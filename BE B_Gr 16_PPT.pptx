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6" r:id="rId3"/>
    <p:sldId id="257" r:id="rId4"/>
    <p:sldId id="267" r:id="rId5"/>
    <p:sldId id="277" r:id="rId6"/>
    <p:sldId id="278" r:id="rId7"/>
    <p:sldId id="258" r:id="rId8"/>
    <p:sldId id="279" r:id="rId9"/>
    <p:sldId id="280" r:id="rId10"/>
    <p:sldId id="268" r:id="rId11"/>
    <p:sldId id="271" r:id="rId12"/>
    <p:sldId id="261" r:id="rId13"/>
    <p:sldId id="263" r:id="rId14"/>
    <p:sldId id="274" r:id="rId15"/>
    <p:sldId id="275" r:id="rId16"/>
    <p:sldId id="282" r:id="rId17"/>
    <p:sldId id="281" r:id="rId18"/>
    <p:sldId id="276" r:id="rId19"/>
    <p:sldId id="26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penkar" userId="adaf9e37171bad60" providerId="LiveId" clId="{4C7B98F8-8EE4-427E-86F0-ED7581B1CC25}"/>
    <pc:docChg chg="addSld modSld sldOrd">
      <pc:chgData name="yash penkar" userId="adaf9e37171bad60" providerId="LiveId" clId="{4C7B98F8-8EE4-427E-86F0-ED7581B1CC25}" dt="2025-09-12T03:56:15.772" v="8" actId="1076"/>
      <pc:docMkLst>
        <pc:docMk/>
      </pc:docMkLst>
      <pc:sldChg chg="addSp delSp modSp new mod ord">
        <pc:chgData name="yash penkar" userId="adaf9e37171bad60" providerId="LiveId" clId="{4C7B98F8-8EE4-427E-86F0-ED7581B1CC25}" dt="2025-09-12T03:56:15.772" v="8" actId="1076"/>
        <pc:sldMkLst>
          <pc:docMk/>
          <pc:sldMk cId="612437758" sldId="280"/>
        </pc:sldMkLst>
        <pc:spChg chg="mod">
          <ac:chgData name="yash penkar" userId="adaf9e37171bad60" providerId="LiveId" clId="{4C7B98F8-8EE4-427E-86F0-ED7581B1CC25}" dt="2025-09-12T03:55:30.358" v="4" actId="122"/>
          <ac:spMkLst>
            <pc:docMk/>
            <pc:sldMk cId="612437758" sldId="280"/>
            <ac:spMk id="2" creationId="{9B15B641-A36C-50B9-8F97-9EF455F93449}"/>
          </ac:spMkLst>
        </pc:spChg>
        <pc:spChg chg="del">
          <ac:chgData name="yash penkar" userId="adaf9e37171bad60" providerId="LiveId" clId="{4C7B98F8-8EE4-427E-86F0-ED7581B1CC25}" dt="2025-09-12T03:55:59.816" v="5" actId="22"/>
          <ac:spMkLst>
            <pc:docMk/>
            <pc:sldMk cId="612437758" sldId="280"/>
            <ac:spMk id="3" creationId="{9E946302-3380-DBD4-E18F-0BDACC8881BB}"/>
          </ac:spMkLst>
        </pc:spChg>
        <pc:picChg chg="add mod ord">
          <ac:chgData name="yash penkar" userId="adaf9e37171bad60" providerId="LiveId" clId="{4C7B98F8-8EE4-427E-86F0-ED7581B1CC25}" dt="2025-09-12T03:56:15.772" v="8" actId="1076"/>
          <ac:picMkLst>
            <pc:docMk/>
            <pc:sldMk cId="612437758" sldId="280"/>
            <ac:picMk id="5" creationId="{519A564F-C3A6-712A-924A-493401ED2E5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2360261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3753323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413618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A88D47-C52C-41E4-A6DB-28F2DC73E95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92413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A88D47-C52C-41E4-A6DB-28F2DC73E958}" type="datetimeFigureOut">
              <a:rPr lang="en-IN" smtClean="0"/>
              <a:t>31-10-2025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1213519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A88D47-C52C-41E4-A6DB-28F2DC73E958}" type="datetimeFigureOut">
              <a:rPr lang="en-IN" smtClean="0"/>
              <a:t>31-10-2025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75671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A88D47-C52C-41E4-A6DB-28F2DC73E958}" type="datetimeFigureOut">
              <a:rPr lang="en-IN" smtClean="0"/>
              <a:t>31-10-2025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2222188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A88D47-C52C-41E4-A6DB-28F2DC73E958}" type="datetimeFigureOut">
              <a:rPr lang="en-IN" smtClean="0"/>
              <a:t>31-10-2025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1404304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7CBE52-E5FB-4FA0-AC72-0B8A2AA8208C}" type="slidenum">
              <a:rPr lang="en-IN" smtClean="0"/>
              <a:t>‹#›</a:t>
            </a:fld>
            <a:endParaRPr lang="en-IN"/>
          </a:p>
        </p:txBody>
      </p:sp>
      <p:sp>
        <p:nvSpPr>
          <p:cNvPr id="5" name="Date Placeholder 4"/>
          <p:cNvSpPr>
            <a:spLocks noGrp="1"/>
          </p:cNvSpPr>
          <p:nvPr>
            <p:ph type="dt" sz="half" idx="10"/>
          </p:nvPr>
        </p:nvSpPr>
        <p:spPr/>
        <p:txBody>
          <a:bodyPr/>
          <a:lstStyle/>
          <a:p>
            <a:fld id="{91A88D47-C52C-41E4-A6DB-28F2DC73E958}" type="datetimeFigureOut">
              <a:rPr lang="en-IN" smtClean="0"/>
              <a:t>31-10-2025</a:t>
            </a:fld>
            <a:endParaRPr lang="en-IN"/>
          </a:p>
        </p:txBody>
      </p:sp>
    </p:spTree>
    <p:extLst>
      <p:ext uri="{BB962C8B-B14F-4D97-AF65-F5344CB8AC3E}">
        <p14:creationId xmlns:p14="http://schemas.microsoft.com/office/powerpoint/2010/main" val="1241667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3971403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92687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2614025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4053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3690061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419219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A88D47-C52C-41E4-A6DB-28F2DC73E958}" type="datetimeFigureOut">
              <a:rPr lang="en-IN" smtClean="0"/>
              <a:t>31-10-2025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7CBE52-E5FB-4FA0-AC72-0B8A2AA8208C}" type="slidenum">
              <a:rPr lang="en-IN" smtClean="0"/>
              <a:t>‹#›</a:t>
            </a:fld>
            <a:endParaRPr lang="en-IN"/>
          </a:p>
        </p:txBody>
      </p:sp>
    </p:spTree>
    <p:extLst>
      <p:ext uri="{BB962C8B-B14F-4D97-AF65-F5344CB8AC3E}">
        <p14:creationId xmlns:p14="http://schemas.microsoft.com/office/powerpoint/2010/main" val="3206717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1A88D47-C52C-41E4-A6DB-28F2DC73E958}" type="datetimeFigureOut">
              <a:rPr lang="en-IN" smtClean="0"/>
              <a:t>31-10-2025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37CBE52-E5FB-4FA0-AC72-0B8A2AA8208C}" type="slidenum">
              <a:rPr lang="en-IN" smtClean="0"/>
              <a:t>‹#›</a:t>
            </a:fld>
            <a:endParaRPr lang="en-IN"/>
          </a:p>
        </p:txBody>
      </p:sp>
    </p:spTree>
    <p:extLst>
      <p:ext uri="{BB962C8B-B14F-4D97-AF65-F5344CB8AC3E}">
        <p14:creationId xmlns:p14="http://schemas.microsoft.com/office/powerpoint/2010/main" val="51104724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02A40-D5FE-B057-0E0D-14E64F462CE0}"/>
              </a:ext>
            </a:extLst>
          </p:cNvPr>
          <p:cNvSpPr>
            <a:spLocks noGrp="1"/>
          </p:cNvSpPr>
          <p:nvPr>
            <p:ph type="ctrTitle"/>
          </p:nvPr>
        </p:nvSpPr>
        <p:spPr>
          <a:xfrm>
            <a:off x="967066" y="2267919"/>
            <a:ext cx="10257863" cy="1322502"/>
          </a:xfrm>
        </p:spPr>
        <p:txBody>
          <a:bodyPr/>
          <a:lstStyle/>
          <a:p>
            <a:pPr algn="ctr">
              <a:lnSpc>
                <a:spcPct val="150000"/>
              </a:lnSpc>
            </a:pPr>
            <a:r>
              <a:rPr lang="en-IN" sz="3600" b="1" dirty="0" err="1">
                <a:solidFill>
                  <a:schemeClr val="tx1"/>
                </a:solidFill>
                <a:latin typeface="Times New Roman" panose="02020603050405020304" pitchFamily="18" charset="0"/>
                <a:cs typeface="Times New Roman" panose="02020603050405020304" pitchFamily="18" charset="0"/>
              </a:rPr>
              <a:t>VRGen</a:t>
            </a:r>
            <a:r>
              <a:rPr lang="en-IN" sz="3600" b="1" dirty="0">
                <a:solidFill>
                  <a:schemeClr val="tx1"/>
                </a:solidFill>
                <a:latin typeface="Times New Roman" panose="02020603050405020304" pitchFamily="18" charset="0"/>
                <a:cs typeface="Times New Roman" panose="02020603050405020304" pitchFamily="18" charset="0"/>
              </a:rPr>
              <a:t>: Deep Learning Based VR Property Walkthroughs Using 2D Plans</a:t>
            </a:r>
            <a:br>
              <a:rPr lang="en-IN" sz="36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(SDG’s: 4, 9, 11, 12)</a:t>
            </a:r>
          </a:p>
        </p:txBody>
      </p:sp>
      <p:sp>
        <p:nvSpPr>
          <p:cNvPr id="3" name="Subtitle 2">
            <a:extLst>
              <a:ext uri="{FF2B5EF4-FFF2-40B4-BE49-F238E27FC236}">
                <a16:creationId xmlns:a16="http://schemas.microsoft.com/office/drawing/2014/main" id="{7DDF02AB-0DC6-2F10-30A9-8B74504042BD}"/>
              </a:ext>
            </a:extLst>
          </p:cNvPr>
          <p:cNvSpPr>
            <a:spLocks noGrp="1"/>
          </p:cNvSpPr>
          <p:nvPr>
            <p:ph type="subTitle" idx="1"/>
          </p:nvPr>
        </p:nvSpPr>
        <p:spPr>
          <a:xfrm>
            <a:off x="2212529" y="3751236"/>
            <a:ext cx="7766936" cy="1096899"/>
          </a:xfrm>
        </p:spPr>
        <p:txBody>
          <a:bodyPr>
            <a:normAutofit fontScale="25000" lnSpcReduction="20000"/>
          </a:bodyPr>
          <a:lstStyle/>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Yash </a:t>
            </a:r>
            <a:r>
              <a:rPr lang="en-IN" sz="6400" b="1" dirty="0" err="1">
                <a:solidFill>
                  <a:schemeClr val="tx1"/>
                </a:solidFill>
                <a:latin typeface="Times New Roman" panose="02020603050405020304" pitchFamily="18" charset="0"/>
                <a:cs typeface="Times New Roman" panose="02020603050405020304" pitchFamily="18" charset="0"/>
              </a:rPr>
              <a:t>Penkar</a:t>
            </a:r>
            <a:r>
              <a:rPr lang="en-IN" sz="6400" b="1" dirty="0">
                <a:solidFill>
                  <a:schemeClr val="tx1"/>
                </a:solidFill>
                <a:latin typeface="Times New Roman" panose="02020603050405020304" pitchFamily="18" charset="0"/>
                <a:cs typeface="Times New Roman" panose="02020603050405020304" pitchFamily="18" charset="0"/>
              </a:rPr>
              <a:t> (22106118)</a:t>
            </a:r>
          </a:p>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Prarthana Patil (22106035)</a:t>
            </a:r>
          </a:p>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Rutuja Pawar   (22106043)</a:t>
            </a:r>
          </a:p>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Dhruv Sawant (22106015)</a:t>
            </a:r>
          </a:p>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Under the Guidance of </a:t>
            </a:r>
          </a:p>
          <a:p>
            <a:pPr algn="ctr">
              <a:lnSpc>
                <a:spcPct val="170000"/>
              </a:lnSpc>
            </a:pPr>
            <a:r>
              <a:rPr lang="en-IN" sz="6400" b="1" dirty="0">
                <a:solidFill>
                  <a:schemeClr val="tx1"/>
                </a:solidFill>
                <a:latin typeface="Times New Roman" panose="02020603050405020304" pitchFamily="18" charset="0"/>
                <a:cs typeface="Times New Roman" panose="02020603050405020304" pitchFamily="18" charset="0"/>
              </a:rPr>
              <a:t>Prof. Vijesh Nair</a:t>
            </a:r>
          </a:p>
          <a:p>
            <a:endParaRPr lang="en-IN" dirty="0"/>
          </a:p>
        </p:txBody>
      </p:sp>
      <p:pic>
        <p:nvPicPr>
          <p:cNvPr id="4" name="Picture 3">
            <a:extLst>
              <a:ext uri="{FF2B5EF4-FFF2-40B4-BE49-F238E27FC236}">
                <a16:creationId xmlns:a16="http://schemas.microsoft.com/office/drawing/2014/main" id="{CDBD4F7B-CA7B-75C7-E8B1-6538C8AE17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8213" y="0"/>
            <a:ext cx="8955573" cy="1558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806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874B-CCAE-237C-818D-3BB6FCB0B978}"/>
              </a:ext>
            </a:extLst>
          </p:cNvPr>
          <p:cNvSpPr>
            <a:spLocks noGrp="1"/>
          </p:cNvSpPr>
          <p:nvPr>
            <p:ph type="title"/>
          </p:nvPr>
        </p:nvSpPr>
        <p:spPr>
          <a:xfrm>
            <a:off x="1728840" y="222187"/>
            <a:ext cx="8596668" cy="1320800"/>
          </a:xfrm>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798DDEEB-68E2-3C54-7A5D-8F356F51F885}"/>
              </a:ext>
            </a:extLst>
          </p:cNvPr>
          <p:cNvSpPr>
            <a:spLocks noGrp="1"/>
          </p:cNvSpPr>
          <p:nvPr>
            <p:ph idx="1"/>
          </p:nvPr>
        </p:nvSpPr>
        <p:spPr>
          <a:xfrm>
            <a:off x="1032387" y="1091048"/>
            <a:ext cx="9989574" cy="3880773"/>
          </a:xfrm>
        </p:spPr>
        <p:txBody>
          <a:bodyPr>
            <a:normAutofit fontScale="25000" lnSpcReduction="20000"/>
          </a:bodyPr>
          <a:lstStyle/>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Introduction</a:t>
            </a:r>
          </a:p>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Literature Survey of the existing systems</a:t>
            </a:r>
          </a:p>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Limitations of the existing systems</a:t>
            </a:r>
          </a:p>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Problem statement and Objective</a:t>
            </a:r>
          </a:p>
          <a:p>
            <a:pPr algn="just">
              <a:lnSpc>
                <a:spcPct val="150000"/>
              </a:lnSpc>
              <a:buClr>
                <a:schemeClr val="tx1"/>
              </a:buClr>
              <a:buSzPct val="100000"/>
              <a:buFont typeface="Arial" panose="020B0604020202020204" pitchFamily="34" charset="0"/>
              <a:buChar char="•"/>
            </a:pPr>
            <a:r>
              <a:rPr lang="en-US" altLang="en-US" sz="8000" dirty="0">
                <a:solidFill>
                  <a:schemeClr val="tx1"/>
                </a:solidFill>
                <a:latin typeface="Times New Roman" panose="02020603050405020304" pitchFamily="18" charset="0"/>
                <a:cs typeface="Times New Roman" panose="02020603050405020304" pitchFamily="18" charset="0"/>
              </a:rPr>
              <a:t>Proposed System</a:t>
            </a:r>
          </a:p>
          <a:p>
            <a:pPr algn="just">
              <a:lnSpc>
                <a:spcPct val="150000"/>
              </a:lnSpc>
              <a:buClr>
                <a:schemeClr val="tx1"/>
              </a:buClr>
              <a:buSzPct val="100000"/>
              <a:buFont typeface="Arial" panose="020B0604020202020204" pitchFamily="34" charset="0"/>
              <a:buChar char="•"/>
            </a:pPr>
            <a:r>
              <a:rPr lang="en-US" altLang="en-US" sz="8000" dirty="0">
                <a:solidFill>
                  <a:schemeClr val="tx1"/>
                </a:solidFill>
                <a:latin typeface="Times New Roman" panose="02020603050405020304" pitchFamily="18" charset="0"/>
                <a:cs typeface="Times New Roman" panose="02020603050405020304" pitchFamily="18" charset="0"/>
              </a:rPr>
              <a:t>Experimental Setup(Details about input/ dataset, Performance evaluation parameters, Software and hardware setup)</a:t>
            </a:r>
          </a:p>
          <a:p>
            <a:pPr algn="just">
              <a:lnSpc>
                <a:spcPct val="150000"/>
              </a:lnSpc>
              <a:buClr>
                <a:schemeClr val="tx1"/>
              </a:buClr>
              <a:buSzPct val="100000"/>
              <a:buFont typeface="Arial" panose="020B0604020202020204" pitchFamily="34" charset="0"/>
              <a:buChar char="•"/>
            </a:pPr>
            <a:r>
              <a:rPr lang="en-US" altLang="en-US" sz="8000" dirty="0">
                <a:solidFill>
                  <a:schemeClr val="tx1"/>
                </a:solidFill>
                <a:latin typeface="Times New Roman" panose="02020603050405020304" pitchFamily="18" charset="0"/>
                <a:cs typeface="Times New Roman" panose="02020603050405020304" pitchFamily="18" charset="0"/>
              </a:rPr>
              <a:t>Implementation(Screenshots of all modules)</a:t>
            </a:r>
          </a:p>
          <a:p>
            <a:pPr algn="just">
              <a:lnSpc>
                <a:spcPct val="150000"/>
              </a:lnSpc>
              <a:buClr>
                <a:schemeClr val="tx1"/>
              </a:buClr>
              <a:buSzPct val="100000"/>
              <a:buFont typeface="Arial" panose="020B0604020202020204" pitchFamily="34" charset="0"/>
              <a:buChar char="•"/>
            </a:pPr>
            <a:r>
              <a:rPr lang="en-US" altLang="en-US" sz="8000" dirty="0">
                <a:solidFill>
                  <a:schemeClr val="tx1"/>
                </a:solidFill>
                <a:latin typeface="Times New Roman" panose="02020603050405020304" pitchFamily="18" charset="0"/>
                <a:cs typeface="Times New Roman" panose="02020603050405020304" pitchFamily="18" charset="0"/>
              </a:rPr>
              <a:t>Conclusion and future work</a:t>
            </a:r>
          </a:p>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References</a:t>
            </a:r>
          </a:p>
          <a:p>
            <a:pPr algn="just">
              <a:lnSpc>
                <a:spcPct val="150000"/>
              </a:lnSpc>
              <a:buClr>
                <a:schemeClr val="tx1"/>
              </a:buClr>
              <a:buSzPct val="100000"/>
              <a:buFont typeface="Arial" panose="020B0604020202020204" pitchFamily="34" charset="0"/>
              <a:buChar char="•"/>
            </a:pPr>
            <a:r>
              <a:rPr lang="en-IN" altLang="en-US" sz="8000" dirty="0">
                <a:solidFill>
                  <a:schemeClr val="tx1"/>
                </a:solidFill>
                <a:latin typeface="Times New Roman" panose="02020603050405020304" pitchFamily="18" charset="0"/>
                <a:cs typeface="Times New Roman" panose="02020603050405020304" pitchFamily="18" charset="0"/>
              </a:rPr>
              <a:t>Research Paper Publication / Patent/ Copyright status</a:t>
            </a:r>
          </a:p>
          <a:p>
            <a:pPr marL="0" indent="0">
              <a:buNone/>
            </a:pPr>
            <a:endParaRPr lang="en-IN" dirty="0"/>
          </a:p>
        </p:txBody>
      </p:sp>
    </p:spTree>
    <p:extLst>
      <p:ext uri="{BB962C8B-B14F-4D97-AF65-F5344CB8AC3E}">
        <p14:creationId xmlns:p14="http://schemas.microsoft.com/office/powerpoint/2010/main" val="3233122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6B244-C2D2-B7EF-BD9F-68E70187EB2E}"/>
              </a:ext>
            </a:extLst>
          </p:cNvPr>
          <p:cNvSpPr>
            <a:spLocks noGrp="1"/>
          </p:cNvSpPr>
          <p:nvPr>
            <p:ph type="title"/>
          </p:nvPr>
        </p:nvSpPr>
        <p:spPr>
          <a:xfrm>
            <a:off x="1797666" y="180293"/>
            <a:ext cx="8596668" cy="702365"/>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Introduction</a:t>
            </a:r>
            <a:br>
              <a:rPr lang="en-IN" dirty="0"/>
            </a:br>
            <a:endParaRPr lang="en-IN" dirty="0"/>
          </a:p>
        </p:txBody>
      </p:sp>
      <p:sp>
        <p:nvSpPr>
          <p:cNvPr id="7" name="TextBox 6">
            <a:extLst>
              <a:ext uri="{FF2B5EF4-FFF2-40B4-BE49-F238E27FC236}">
                <a16:creationId xmlns:a16="http://schemas.microsoft.com/office/drawing/2014/main" id="{D75A079B-0742-90F9-D3D7-DB1D93880729}"/>
              </a:ext>
            </a:extLst>
          </p:cNvPr>
          <p:cNvSpPr txBox="1"/>
          <p:nvPr/>
        </p:nvSpPr>
        <p:spPr>
          <a:xfrm>
            <a:off x="961103" y="1140864"/>
            <a:ext cx="10269794" cy="50285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Visualization of 3D structures from 2D floorplans is essential in architecture and real estate.</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2D floorplans convey spatial information but lack immersive perspective for stakeholders.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Developers and architects rely on 3D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tools (AutoCAD, SketchUp, Blender) for design communication.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Conventional 3D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is manual, time-consuming, costly, and requires skilled professionals.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dependency slows workflows and is unsuitable when multiple layouts must be visualized quickly.</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Advances in AI and computer vision enable automated visual reconstruction.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GANs, especially Pix2Pix (U-Net generator + </a:t>
            </a:r>
            <a:r>
              <a:rPr lang="en-IN" dirty="0" err="1">
                <a:latin typeface="Times New Roman" panose="02020603050405020304" pitchFamily="18" charset="0"/>
                <a:cs typeface="Times New Roman" panose="02020603050405020304" pitchFamily="18" charset="0"/>
              </a:rPr>
              <a:t>PatchGAN</a:t>
            </a:r>
            <a:r>
              <a:rPr lang="en-IN" dirty="0">
                <a:latin typeface="Times New Roman" panose="02020603050405020304" pitchFamily="18" charset="0"/>
                <a:cs typeface="Times New Roman" panose="02020603050405020304" pitchFamily="18" charset="0"/>
              </a:rPr>
              <a:t> discriminator), are effective for image-to-image translation.</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Proposed pipeline: 2D floorplan → heightmap → 3D mesh via voxelization (</a:t>
            </a:r>
            <a:r>
              <a:rPr lang="en-IN" dirty="0" err="1">
                <a:latin typeface="Times New Roman" panose="02020603050405020304" pitchFamily="18" charset="0"/>
                <a:cs typeface="Times New Roman" panose="02020603050405020304" pitchFamily="18" charset="0"/>
              </a:rPr>
              <a:t>Trimesh</a:t>
            </a:r>
            <a:r>
              <a:rPr lang="en-IN"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directly exports GLB models, removing dependency on CAD/Blender for post-processing.</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Browser-ready and VR-compatible outputs enable lightweight interactive visualization.</a:t>
            </a:r>
          </a:p>
        </p:txBody>
      </p:sp>
    </p:spTree>
    <p:extLst>
      <p:ext uri="{BB962C8B-B14F-4D97-AF65-F5344CB8AC3E}">
        <p14:creationId xmlns:p14="http://schemas.microsoft.com/office/powerpoint/2010/main" val="1804419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708087-A086-3F87-7482-1B97A066919E}"/>
              </a:ext>
            </a:extLst>
          </p:cNvPr>
          <p:cNvSpPr>
            <a:spLocks noGrp="1"/>
          </p:cNvSpPr>
          <p:nvPr>
            <p:ph idx="1"/>
          </p:nvPr>
        </p:nvSpPr>
        <p:spPr>
          <a:xfrm>
            <a:off x="1023732" y="0"/>
            <a:ext cx="10455964" cy="3880773"/>
          </a:xfrm>
        </p:spPr>
        <p:txBody>
          <a:bodyPr>
            <a:normAutofit fontScale="25000" lnSpcReduction="20000"/>
          </a:bodyPr>
          <a:lstStyle/>
          <a:p>
            <a:pPr marL="0" indent="0" algn="just">
              <a:lnSpc>
                <a:spcPct val="170000"/>
              </a:lnSpc>
              <a:buClrTx/>
              <a:buSzPct val="100000"/>
              <a:buNone/>
            </a:pPr>
            <a:r>
              <a:rPr lang="en-US" sz="7200" b="1" dirty="0">
                <a:solidFill>
                  <a:schemeClr val="tx1"/>
                </a:solidFill>
                <a:latin typeface="Times New Roman" panose="02020603050405020304" pitchFamily="18" charset="0"/>
                <a:cs typeface="Times New Roman" panose="02020603050405020304" pitchFamily="18" charset="0"/>
              </a:rPr>
              <a:t>Motivation:</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Many buyers and clients find it difficult to visualize property layouts from 2D drawings.</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Growing demand for virtual property tours, especially in remote buying scenarios.</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Advances in deep learning for image-to-image translation make automated floorplan-to-3D conversion feasible.</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Ability to generate 3D meshes automatically (</a:t>
            </a:r>
            <a:r>
              <a:rPr lang="en-US" sz="7200" dirty="0" err="1">
                <a:solidFill>
                  <a:schemeClr val="tx1"/>
                </a:solidFill>
                <a:latin typeface="Times New Roman" panose="02020603050405020304" pitchFamily="18" charset="0"/>
                <a:cs typeface="Times New Roman" panose="02020603050405020304" pitchFamily="18" charset="0"/>
              </a:rPr>
              <a:t>heightmap_to_mesh</a:t>
            </a:r>
            <a:r>
              <a:rPr lang="en-US" sz="7200" dirty="0">
                <a:solidFill>
                  <a:schemeClr val="tx1"/>
                </a:solidFill>
                <a:latin typeface="Times New Roman" panose="02020603050405020304" pitchFamily="18" charset="0"/>
                <a:cs typeface="Times New Roman" panose="02020603050405020304" pitchFamily="18" charset="0"/>
              </a:rPr>
              <a:t>) without manual CAD modeling strongly motivated this project.</a:t>
            </a:r>
          </a:p>
          <a:p>
            <a:pPr marL="0" indent="0" algn="just">
              <a:lnSpc>
                <a:spcPct val="170000"/>
              </a:lnSpc>
              <a:buClrTx/>
              <a:buSzPct val="100000"/>
              <a:buNone/>
            </a:pPr>
            <a:r>
              <a:rPr lang="en-US" sz="7200" b="1" dirty="0">
                <a:solidFill>
                  <a:schemeClr val="tx1"/>
                </a:solidFill>
                <a:latin typeface="Times New Roman" panose="02020603050405020304" pitchFamily="18" charset="0"/>
                <a:cs typeface="Times New Roman" panose="02020603050405020304" pitchFamily="18" charset="0"/>
              </a:rPr>
              <a:t>Objectives:</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To design a Conditional GAN architecture.</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To build a floorplan-to-mesh pipeline.</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To ensure compatibility with modern platforms.</a:t>
            </a:r>
          </a:p>
          <a:p>
            <a:pPr algn="just">
              <a:lnSpc>
                <a:spcPct val="170000"/>
              </a:lnSpc>
              <a:buClrTx/>
              <a:buSzPct val="100000"/>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To support flexible inference modes.</a:t>
            </a:r>
          </a:p>
          <a:p>
            <a:pPr algn="just">
              <a:lnSpc>
                <a:spcPct val="170000"/>
              </a:lnSpc>
              <a:buClrTx/>
              <a:buSzPct val="100000"/>
              <a:buFont typeface="Arial" panose="020B0604020202020204" pitchFamily="34" charset="0"/>
              <a:buChar char="•"/>
            </a:pPr>
            <a:r>
              <a:rPr lang="en-US" altLang="ko-KR" sz="7200" dirty="0">
                <a:solidFill>
                  <a:schemeClr val="tx1"/>
                </a:solidFill>
                <a:latin typeface="Times New Roman" panose="02020603050405020304" pitchFamily="18" charset="0"/>
                <a:cs typeface="Times New Roman" panose="02020603050405020304" pitchFamily="18" charset="0"/>
              </a:rPr>
              <a:t>To validate with limited data and ensure scalability.</a:t>
            </a:r>
            <a:endParaRPr lang="en-US" sz="7200" dirty="0">
              <a:solidFill>
                <a:schemeClr val="tx1"/>
              </a:solidFill>
              <a:latin typeface="Times New Roman" panose="02020603050405020304" pitchFamily="18" charset="0"/>
              <a:cs typeface="Times New Roman" panose="02020603050405020304" pitchFamily="18" charset="0"/>
            </a:endParaRPr>
          </a:p>
          <a:p>
            <a:pPr marL="0" indent="0" algn="just">
              <a:lnSpc>
                <a:spcPct val="170000"/>
              </a:lnSpc>
              <a:buClrTx/>
              <a:buSzPct val="100000"/>
              <a:buNone/>
            </a:pPr>
            <a:endParaRPr lang="en-IN" dirty="0"/>
          </a:p>
        </p:txBody>
      </p:sp>
    </p:spTree>
    <p:extLst>
      <p:ext uri="{BB962C8B-B14F-4D97-AF65-F5344CB8AC3E}">
        <p14:creationId xmlns:p14="http://schemas.microsoft.com/office/powerpoint/2010/main" val="3085295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1427E-AEF5-7262-7889-60DB7B23F088}"/>
              </a:ext>
            </a:extLst>
          </p:cNvPr>
          <p:cNvSpPr>
            <a:spLocks noGrp="1"/>
          </p:cNvSpPr>
          <p:nvPr>
            <p:ph type="title"/>
          </p:nvPr>
        </p:nvSpPr>
        <p:spPr>
          <a:xfrm>
            <a:off x="1887544" y="0"/>
            <a:ext cx="8416911" cy="1099457"/>
          </a:xfrm>
        </p:spPr>
        <p:txBody>
          <a:bodyPr>
            <a:normAutofit/>
          </a:bodyPr>
          <a:lstStyle/>
          <a:p>
            <a:r>
              <a:rPr lang="en-IN" altLang="en-US" b="1" dirty="0">
                <a:solidFill>
                  <a:schemeClr val="tx1"/>
                </a:solidFill>
                <a:latin typeface="Times New Roman" panose="02020603050405020304" pitchFamily="18" charset="0"/>
                <a:cs typeface="Times New Roman" panose="02020603050405020304" pitchFamily="18" charset="0"/>
              </a:rPr>
              <a:t>Literature Survey of the Existing System</a:t>
            </a:r>
            <a:endParaRPr lang="en-IN"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1DF55141-5185-FEB1-4A5D-E333D67B8825}"/>
              </a:ext>
            </a:extLst>
          </p:cNvPr>
          <p:cNvGraphicFramePr>
            <a:graphicFrameLocks noGrp="1"/>
          </p:cNvGraphicFramePr>
          <p:nvPr>
            <p:ph idx="1"/>
            <p:extLst>
              <p:ext uri="{D42A27DB-BD31-4B8C-83A1-F6EECF244321}">
                <p14:modId xmlns:p14="http://schemas.microsoft.com/office/powerpoint/2010/main" val="2597086766"/>
              </p:ext>
            </p:extLst>
          </p:nvPr>
        </p:nvGraphicFramePr>
        <p:xfrm>
          <a:off x="212035" y="616227"/>
          <a:ext cx="11767930" cy="6162581"/>
        </p:xfrm>
        <a:graphic>
          <a:graphicData uri="http://schemas.openxmlformats.org/drawingml/2006/table">
            <a:tbl>
              <a:tblPr firstRow="1" firstCol="1" bandRow="1"/>
              <a:tblGrid>
                <a:gridCol w="467139">
                  <a:extLst>
                    <a:ext uri="{9D8B030D-6E8A-4147-A177-3AD203B41FA5}">
                      <a16:colId xmlns:a16="http://schemas.microsoft.com/office/drawing/2014/main" val="231191921"/>
                    </a:ext>
                  </a:extLst>
                </a:gridCol>
                <a:gridCol w="2110532">
                  <a:extLst>
                    <a:ext uri="{9D8B030D-6E8A-4147-A177-3AD203B41FA5}">
                      <a16:colId xmlns:a16="http://schemas.microsoft.com/office/drawing/2014/main" val="1517118591"/>
                    </a:ext>
                  </a:extLst>
                </a:gridCol>
                <a:gridCol w="1268772">
                  <a:extLst>
                    <a:ext uri="{9D8B030D-6E8A-4147-A177-3AD203B41FA5}">
                      <a16:colId xmlns:a16="http://schemas.microsoft.com/office/drawing/2014/main" val="1577765405"/>
                    </a:ext>
                  </a:extLst>
                </a:gridCol>
                <a:gridCol w="3133384">
                  <a:extLst>
                    <a:ext uri="{9D8B030D-6E8A-4147-A177-3AD203B41FA5}">
                      <a16:colId xmlns:a16="http://schemas.microsoft.com/office/drawing/2014/main" val="4280189476"/>
                    </a:ext>
                  </a:extLst>
                </a:gridCol>
                <a:gridCol w="1796425">
                  <a:extLst>
                    <a:ext uri="{9D8B030D-6E8A-4147-A177-3AD203B41FA5}">
                      <a16:colId xmlns:a16="http://schemas.microsoft.com/office/drawing/2014/main" val="1923473222"/>
                    </a:ext>
                  </a:extLst>
                </a:gridCol>
                <a:gridCol w="2991678">
                  <a:extLst>
                    <a:ext uri="{9D8B030D-6E8A-4147-A177-3AD203B41FA5}">
                      <a16:colId xmlns:a16="http://schemas.microsoft.com/office/drawing/2014/main" val="3249527506"/>
                    </a:ext>
                  </a:extLst>
                </a:gridCol>
              </a:tblGrid>
              <a:tr h="227689">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Year</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Domain</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Algorithm</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Dataset</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07000"/>
                        </a:lnSpc>
                        <a:spcAft>
                          <a:spcPts val="800"/>
                        </a:spcAft>
                        <a:buNone/>
                        <a:tabLst>
                          <a:tab pos="1894205" algn="l"/>
                        </a:tabLst>
                      </a:pPr>
                      <a:r>
                        <a:rPr lang="en-US" sz="1400" b="1"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Gap</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4981265"/>
                  </a:ext>
                </a:extLst>
              </a:tr>
              <a:tr h="1028001">
                <a:tc>
                  <a:txBody>
                    <a:bodyPr/>
                    <a:lstStyle/>
                    <a:p>
                      <a:pPr algn="l" fontAlgn="t">
                        <a:lnSpc>
                          <a:spcPct val="107000"/>
                        </a:lnSpc>
                        <a:spcAft>
                          <a:spcPts val="800"/>
                        </a:spcAft>
                        <a:buNone/>
                        <a:tabLst>
                          <a:tab pos="1894205" algn="l"/>
                        </a:tabLs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Plan–MORPH: Conversion of 2D Floorplans to 3D Models</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Image Processing / 3D Modelling</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Python Flask web app using OpenCV (Canny edge detection, contour tracing) + Trimesh for 3D STL generation</a:t>
                      </a:r>
                      <a:endParaRPr lang="en-IN" sz="1400" b="0" i="0" u="none" strike="noStrike">
                        <a:effectLst/>
                        <a:latin typeface="Times New Roman" panose="02020603050405020304" pitchFamily="18" charset="0"/>
                        <a:cs typeface="Times New Roman" panose="02020603050405020304" pitchFamily="18" charset="0"/>
                      </a:endParaRPr>
                    </a:p>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User-uploaded 2D floorplans (.jpg)</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Edge detection errors in noisy/complex inputs; lacks ML automation; scalability and accuracy still limited</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7930581"/>
                  </a:ext>
                </a:extLst>
              </a:tr>
              <a:tr h="1208964">
                <a:tc>
                  <a:txBody>
                    <a:bodyPr/>
                    <a:lstStyle/>
                    <a:p>
                      <a:pPr algn="l" fontAlgn="t">
                        <a:lnSpc>
                          <a:spcPct val="107000"/>
                        </a:lnSpc>
                        <a:spcAft>
                          <a:spcPts val="800"/>
                        </a:spcAft>
                        <a:buNone/>
                        <a:tabLst>
                          <a:tab pos="1894205" algn="l"/>
                        </a:tabLs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2022</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Generating 3D </a:t>
                      </a:r>
                      <a:r>
                        <a:rPr lang="en-IN" sz="1400" b="0" i="0" u="none" strike="noStrike" dirty="0" err="1">
                          <a:effectLst/>
                          <a:latin typeface="Times New Roman" panose="02020603050405020304" pitchFamily="18" charset="0"/>
                          <a:ea typeface="Times New Roman" panose="02020603050405020304" pitchFamily="18" charset="0"/>
                          <a:cs typeface="Times New Roman" panose="02020603050405020304" pitchFamily="18" charset="0"/>
                        </a:rPr>
                        <a:t>Architectured</a:t>
                      </a: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Nature-Inspired Materials Using Diffusion Models</a:t>
                      </a:r>
                      <a:endParaRPr lang="en-IN" sz="1400" b="0" i="0" u="none" strike="noStrike" dirty="0">
                        <a:effectLst/>
                        <a:latin typeface="Times New Roman" panose="02020603050405020304" pitchFamily="18" charset="0"/>
                        <a:cs typeface="Times New Roman" panose="02020603050405020304" pitchFamily="18" charset="0"/>
                      </a:endParaRPr>
                    </a:p>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Materials Science / AI for Design</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Stable Diffusion + text-to-image prompts → voxelization → </a:t>
                      </a:r>
                      <a:r>
                        <a:rPr lang="en-IN" sz="1400" b="0" i="0" u="none" strike="noStrike" dirty="0" err="1">
                          <a:effectLst/>
                          <a:latin typeface="Times New Roman" panose="02020603050405020304" pitchFamily="18" charset="0"/>
                          <a:ea typeface="Times New Roman" panose="02020603050405020304" pitchFamily="18" charset="0"/>
                          <a:cs typeface="Times New Roman" panose="02020603050405020304" pitchFamily="18" charset="0"/>
                        </a:rPr>
                        <a:t>Trimesh</a:t>
                      </a: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 coarse-grained particle simulation</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Pre-trained Stable Diffusion (sd-v1-4), no specific domain dataset (language–image pairs)</a:t>
                      </a:r>
                      <a:endParaRPr lang="en-IN" sz="1400" b="0" i="0" u="none" strike="noStrike">
                        <a:effectLst/>
                        <a:latin typeface="Times New Roman" panose="02020603050405020304" pitchFamily="18" charset="0"/>
                        <a:cs typeface="Times New Roman" panose="02020603050405020304" pitchFamily="18" charset="0"/>
                      </a:endParaRPr>
                    </a:p>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Current diffusion models don’t natively produce 3D; interpolation/voxel stacking is workaround; early-stage method</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1728436"/>
                  </a:ext>
                </a:extLst>
              </a:tr>
              <a:tr h="512625">
                <a:tc>
                  <a:txBody>
                    <a:bodyPr/>
                    <a:lstStyle/>
                    <a:p>
                      <a:pPr algn="l" fontAlgn="t">
                        <a:lnSpc>
                          <a:spcPct val="107000"/>
                        </a:lnSpc>
                        <a:spcAft>
                          <a:spcPts val="800"/>
                        </a:spcAft>
                        <a:buNone/>
                        <a:tabLst>
                          <a:tab pos="1894205" algn="l"/>
                        </a:tabLst>
                      </a:pPr>
                      <a:r>
                        <a:rPr lang="en-US"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US"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3DPlanNet: Generating 3D Models from 2D Floor Plan Images Using Ensemble Methods</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Computer Vision / Architecture</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Ensemble approach combining deep learning (logistic regression, CNN, TensorFlow detection) + rule-based heuristics</a:t>
                      </a:r>
                      <a:endParaRPr lang="en-IN" sz="1400" b="0" i="0" u="none" strike="noStrike">
                        <a:effectLst/>
                        <a:latin typeface="Times New Roman" panose="02020603050405020304" pitchFamily="18" charset="0"/>
                        <a:cs typeface="Times New Roman" panose="02020603050405020304" pitchFamily="18" charset="0"/>
                      </a:endParaRPr>
                    </a:p>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30 floor plan images (small dataset)</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a:effectLst/>
                          <a:latin typeface="Times New Roman" panose="02020603050405020304" pitchFamily="18" charset="0"/>
                          <a:ea typeface="Times New Roman" panose="02020603050405020304" pitchFamily="18" charset="0"/>
                          <a:cs typeface="Times New Roman" panose="02020603050405020304" pitchFamily="18" charset="0"/>
                        </a:rPr>
                        <a:t>Needs large-scale automated dataset creation; diagonal walls and complex structures not well supported</a:t>
                      </a:r>
                      <a:endParaRPr lang="en-IN" sz="1400" b="0" i="0" u="none" strike="noStrike">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5396647"/>
                  </a:ext>
                </a:extLst>
              </a:tr>
              <a:tr h="1110714">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2021</a:t>
                      </a: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dirty="0">
                          <a:solidFill>
                            <a:schemeClr val="tx1"/>
                          </a:solidFill>
                          <a:latin typeface="Times New Roman" panose="02020603050405020304" pitchFamily="18" charset="0"/>
                          <a:cs typeface="Times New Roman" panose="02020603050405020304" pitchFamily="18" charset="0"/>
                        </a:rPr>
                        <a:t>Plan2Scene: Converting Floorplans to 3D Scenes </a:t>
                      </a: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dirty="0">
                          <a:solidFill>
                            <a:schemeClr val="tx1"/>
                          </a:solidFill>
                          <a:latin typeface="Times New Roman" panose="02020603050405020304" pitchFamily="18" charset="0"/>
                          <a:cs typeface="Times New Roman" panose="02020603050405020304" pitchFamily="18" charset="0"/>
                        </a:rPr>
                        <a:t>Computer Vision, 3D Scene Reconstruction, Deep Learning </a:t>
                      </a: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dirty="0">
                          <a:solidFill>
                            <a:schemeClr val="tx1"/>
                          </a:solidFill>
                          <a:latin typeface="Times New Roman" panose="02020603050405020304" pitchFamily="18" charset="0"/>
                          <a:cs typeface="Times New Roman" panose="02020603050405020304" pitchFamily="18" charset="0"/>
                        </a:rPr>
                        <a:t>Encoder–Decoder Network for Texture Synthesis + Graph Neural Network (GNN) for Texture Propagation </a:t>
                      </a: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dirty="0">
                          <a:solidFill>
                            <a:schemeClr val="tx1"/>
                          </a:solidFill>
                          <a:latin typeface="Times New Roman" panose="02020603050405020304" pitchFamily="18" charset="0"/>
                          <a:cs typeface="Times New Roman" panose="02020603050405020304" pitchFamily="18" charset="0"/>
                        </a:rPr>
                        <a:t>Rent3D++, Stationary Textures, and Substance Mapped Textures datasets.</a:t>
                      </a:r>
                      <a:r>
                        <a:rPr lang="en-IN" sz="1400" b="0" i="0" u="none"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Existing 3D methods need dense images or camera poses; this paper uses floorplans and sparse photos with a GNN to generate textured 3D interiors.</a:t>
                      </a: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3648798"/>
                  </a:ext>
                </a:extLst>
              </a:tr>
              <a:tr h="880652">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2018</a:t>
                      </a:r>
                    </a:p>
                    <a:p>
                      <a:pPr algn="l" fontAlgn="t">
                        <a:lnSpc>
                          <a:spcPct val="107000"/>
                        </a:lnSpc>
                        <a:spcAft>
                          <a:spcPts val="800"/>
                        </a:spcAft>
                        <a:buNone/>
                        <a:tabLst>
                          <a:tab pos="1894205" algn="l"/>
                        </a:tabLst>
                      </a:pPr>
                      <a:endParaRPr lang="en-US"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Developing and Evaluating a VR-Based Navigation System for Pre-Sale Housing Sales</a:t>
                      </a:r>
                    </a:p>
                    <a:p>
                      <a:pPr algn="l" fontAlgn="t">
                        <a:lnSpc>
                          <a:spcPct val="107000"/>
                        </a:lnSpc>
                        <a:spcAft>
                          <a:spcPts val="800"/>
                        </a:spcAft>
                        <a:buNone/>
                        <a:tabLst>
                          <a:tab pos="1894205" algn="l"/>
                        </a:tabLst>
                      </a:pP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cs typeface="Times New Roman" panose="02020603050405020304" pitchFamily="18" charset="0"/>
                        </a:rPr>
                        <a:t>Virtual Reality / Real Estate</a:t>
                      </a:r>
                    </a:p>
                    <a:p>
                      <a:pPr algn="l" fontAlgn="t">
                        <a:lnSpc>
                          <a:spcPct val="107000"/>
                        </a:lnSpc>
                        <a:spcAft>
                          <a:spcPts val="800"/>
                        </a:spcAft>
                        <a:buNone/>
                        <a:tabLst>
                          <a:tab pos="1894205" algn="l"/>
                        </a:tabLst>
                      </a:pP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VR system using SketchUp, Lumion, </a:t>
                      </a:r>
                      <a:r>
                        <a:rPr lang="en-US" sz="1400" b="0" i="0" u="none" strike="noStrike" dirty="0" err="1">
                          <a:effectLst/>
                          <a:latin typeface="Times New Roman" panose="02020603050405020304" pitchFamily="18" charset="0"/>
                          <a:cs typeface="Times New Roman" panose="02020603050405020304" pitchFamily="18" charset="0"/>
                        </a:rPr>
                        <a:t>Enscape</a:t>
                      </a:r>
                      <a:r>
                        <a:rPr lang="en-US" sz="1400" b="0" i="0" u="none" strike="noStrike" dirty="0">
                          <a:effectLst/>
                          <a:latin typeface="Times New Roman" panose="02020603050405020304" pitchFamily="18" charset="0"/>
                          <a:cs typeface="Times New Roman" panose="02020603050405020304" pitchFamily="18" charset="0"/>
                        </a:rPr>
                        <a:t>, </a:t>
                      </a:r>
                      <a:r>
                        <a:rPr lang="en-US" sz="1400" b="0" i="0" u="none" strike="noStrike" dirty="0" err="1">
                          <a:effectLst/>
                          <a:latin typeface="Times New Roman" panose="02020603050405020304" pitchFamily="18" charset="0"/>
                          <a:cs typeface="Times New Roman" panose="02020603050405020304" pitchFamily="18" charset="0"/>
                        </a:rPr>
                        <a:t>GearVR</a:t>
                      </a:r>
                      <a:r>
                        <a:rPr lang="en-US" sz="1400" b="0" i="0" u="none" strike="noStrike" dirty="0">
                          <a:effectLst/>
                          <a:latin typeface="Times New Roman" panose="02020603050405020304" pitchFamily="18" charset="0"/>
                          <a:cs typeface="Times New Roman" panose="02020603050405020304" pitchFamily="18" charset="0"/>
                        </a:rPr>
                        <a:t>; evaluated with TAM (Technology Acceptance Model)</a:t>
                      </a:r>
                    </a:p>
                    <a:p>
                      <a:pPr algn="l" fontAlgn="t">
                        <a:lnSpc>
                          <a:spcPct val="107000"/>
                        </a:lnSpc>
                        <a:spcAft>
                          <a:spcPts val="800"/>
                        </a:spcAft>
                        <a:buNone/>
                        <a:tabLst>
                          <a:tab pos="1894205" algn="l"/>
                        </a:tabLst>
                      </a:pP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IN"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0" i="0" u="none" strike="noStrike" dirty="0">
                          <a:effectLst/>
                          <a:latin typeface="Times New Roman" panose="02020603050405020304" pitchFamily="18" charset="0"/>
                          <a:ea typeface="Times New Roman" panose="02020603050405020304" pitchFamily="18" charset="0"/>
                          <a:cs typeface="Times New Roman" panose="02020603050405020304" pitchFamily="18" charset="0"/>
                        </a:rPr>
                        <a:t>Case study: Pre-sale housing project in Taiwan, 30 test users</a:t>
                      </a:r>
                    </a:p>
                    <a:p>
                      <a:pPr algn="l" fontAlgn="t">
                        <a:lnSpc>
                          <a:spcPct val="107000"/>
                        </a:lnSpc>
                        <a:spcAft>
                          <a:spcPts val="800"/>
                        </a:spcAft>
                        <a:buNone/>
                        <a:tabLst>
                          <a:tab pos="1894205" algn="l"/>
                        </a:tabLst>
                      </a:pP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07000"/>
                        </a:lnSpc>
                        <a:spcAft>
                          <a:spcPts val="800"/>
                        </a:spcAft>
                        <a:buNone/>
                        <a:tabLst>
                          <a:tab pos="1894205" algn="l"/>
                        </a:tabLst>
                      </a:pPr>
                      <a:r>
                        <a:rPr lang="en-US" sz="1400" b="0" i="0" u="none" strike="noStrike" dirty="0">
                          <a:effectLst/>
                          <a:latin typeface="Times New Roman" panose="02020603050405020304" pitchFamily="18" charset="0"/>
                          <a:cs typeface="Times New Roman" panose="02020603050405020304" pitchFamily="18" charset="0"/>
                        </a:rPr>
                        <a:t>Ease of use is still low; small sample size; limited generalizability to broader real estate market</a:t>
                      </a:r>
                    </a:p>
                    <a:p>
                      <a:pPr algn="l" fontAlgn="t">
                        <a:lnSpc>
                          <a:spcPct val="107000"/>
                        </a:lnSpc>
                        <a:spcAft>
                          <a:spcPts val="800"/>
                        </a:spcAft>
                        <a:buNone/>
                        <a:tabLst>
                          <a:tab pos="1894205" algn="l"/>
                        </a:tabLst>
                      </a:pPr>
                      <a:endParaRPr lang="en-IN" sz="1400" b="0" i="0" u="none" strike="noStrike" dirty="0">
                        <a:effectLst/>
                        <a:latin typeface="Times New Roman" panose="02020603050405020304" pitchFamily="18" charset="0"/>
                        <a:cs typeface="Times New Roman" panose="02020603050405020304" pitchFamily="18" charset="0"/>
                      </a:endParaRPr>
                    </a:p>
                  </a:txBody>
                  <a:tcPr marL="51618" marR="51618" marT="716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3445541"/>
                  </a:ext>
                </a:extLst>
              </a:tr>
            </a:tbl>
          </a:graphicData>
        </a:graphic>
      </p:graphicFrame>
    </p:spTree>
    <p:extLst>
      <p:ext uri="{BB962C8B-B14F-4D97-AF65-F5344CB8AC3E}">
        <p14:creationId xmlns:p14="http://schemas.microsoft.com/office/powerpoint/2010/main" val="389474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B94E0-E7CD-D1FC-2221-328F95254B85}"/>
              </a:ext>
            </a:extLst>
          </p:cNvPr>
          <p:cNvSpPr>
            <a:spLocks noGrp="1"/>
          </p:cNvSpPr>
          <p:nvPr>
            <p:ph type="title"/>
          </p:nvPr>
        </p:nvSpPr>
        <p:spPr>
          <a:xfrm>
            <a:off x="1797666" y="221283"/>
            <a:ext cx="8596668" cy="816638"/>
          </a:xfrm>
        </p:spPr>
        <p:txBody>
          <a:bodyPr>
            <a:normAutofit fontScale="90000"/>
          </a:bodyPr>
          <a:lstStyle/>
          <a:p>
            <a:pPr algn="ctr"/>
            <a:r>
              <a:rPr lang="en-US" sz="4000" b="1" dirty="0">
                <a:solidFill>
                  <a:schemeClr val="tx1"/>
                </a:solidFill>
                <a:latin typeface="Times New Roman" panose="02020603050405020304" pitchFamily="18" charset="0"/>
                <a:cs typeface="Times New Roman" panose="02020603050405020304" pitchFamily="18" charset="0"/>
              </a:rPr>
              <a:t>Limitations of Existing Systems</a:t>
            </a:r>
            <a:br>
              <a:rPr lang="en-IN" dirty="0"/>
            </a:br>
            <a:endParaRPr lang="en-IN" dirty="0"/>
          </a:p>
        </p:txBody>
      </p:sp>
      <p:sp>
        <p:nvSpPr>
          <p:cNvPr id="3" name="Content Placeholder 2">
            <a:extLst>
              <a:ext uri="{FF2B5EF4-FFF2-40B4-BE49-F238E27FC236}">
                <a16:creationId xmlns:a16="http://schemas.microsoft.com/office/drawing/2014/main" id="{D27DC3ED-92AF-84A0-AEE1-73BB7CE94545}"/>
              </a:ext>
            </a:extLst>
          </p:cNvPr>
          <p:cNvSpPr>
            <a:spLocks noGrp="1"/>
          </p:cNvSpPr>
          <p:nvPr>
            <p:ph idx="1"/>
          </p:nvPr>
        </p:nvSpPr>
        <p:spPr>
          <a:xfrm>
            <a:off x="813185" y="1330037"/>
            <a:ext cx="10565630" cy="5095789"/>
          </a:xfrm>
        </p:spPr>
        <p:txBody>
          <a:bodyPr/>
          <a:lstStyle/>
          <a:p>
            <a:pPr algn="just">
              <a:lnSpc>
                <a:spcPct val="150000"/>
              </a:lnSpc>
              <a:buClrTx/>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Manual dependency on CAD tools or software like Blender makes the process slow, expensive, and designer-dependent.</a:t>
            </a:r>
          </a:p>
          <a:p>
            <a:pPr algn="just">
              <a:lnSpc>
                <a:spcPct val="150000"/>
              </a:lnSpc>
              <a:buClrTx/>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Many past approaches used basic </a:t>
            </a:r>
            <a:r>
              <a:rPr lang="en-US" b="1" dirty="0">
                <a:solidFill>
                  <a:schemeClr val="tx1"/>
                </a:solidFill>
                <a:latin typeface="Times New Roman" panose="02020603050405020304" pitchFamily="18" charset="0"/>
                <a:cs typeface="Times New Roman" panose="02020603050405020304" pitchFamily="18" charset="0"/>
              </a:rPr>
              <a:t>Convolutional Neural Networks (CNNs)</a:t>
            </a:r>
            <a:r>
              <a:rPr lang="en-US" dirty="0">
                <a:solidFill>
                  <a:schemeClr val="tx1"/>
                </a:solidFill>
                <a:latin typeface="Times New Roman" panose="02020603050405020304" pitchFamily="18" charset="0"/>
                <a:cs typeface="Times New Roman" panose="02020603050405020304" pitchFamily="18" charset="0"/>
              </a:rPr>
              <a:t> or combined multiple weaker models (</a:t>
            </a:r>
            <a:r>
              <a:rPr lang="en-US" b="1" dirty="0">
                <a:solidFill>
                  <a:schemeClr val="tx1"/>
                </a:solidFill>
                <a:latin typeface="Times New Roman" panose="02020603050405020304" pitchFamily="18" charset="0"/>
                <a:cs typeface="Times New Roman" panose="02020603050405020304" pitchFamily="18" charset="0"/>
              </a:rPr>
              <a:t>Ensemble Methods</a:t>
            </a:r>
            <a:r>
              <a:rPr lang="en-US" dirty="0">
                <a:solidFill>
                  <a:schemeClr val="tx1"/>
                </a:solidFill>
                <a:latin typeface="Times New Roman" panose="02020603050405020304" pitchFamily="18" charset="0"/>
                <a:cs typeface="Times New Roman" panose="02020603050405020304" pitchFamily="18" charset="0"/>
              </a:rPr>
              <a:t>) to solve different parts of the problem (e.g., one model for walls, another for doors).</a:t>
            </a:r>
          </a:p>
          <a:p>
            <a:pPr algn="just">
              <a:lnSpc>
                <a:spcPct val="150000"/>
              </a:lnSpc>
              <a:buClrTx/>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Older or simpler methods (like </a:t>
            </a:r>
            <a:r>
              <a:rPr lang="en-US" b="1" dirty="0">
                <a:solidFill>
                  <a:schemeClr val="tx1"/>
                </a:solidFill>
                <a:latin typeface="Times New Roman" panose="02020603050405020304" pitchFamily="18" charset="0"/>
                <a:cs typeface="Times New Roman" panose="02020603050405020304" pitchFamily="18" charset="0"/>
              </a:rPr>
              <a:t>Plan-MORPH</a:t>
            </a:r>
            <a:r>
              <a:rPr lang="en-US" dirty="0">
                <a:solidFill>
                  <a:schemeClr val="tx1"/>
                </a:solidFill>
                <a:latin typeface="Times New Roman" panose="02020603050405020304" pitchFamily="18" charset="0"/>
                <a:cs typeface="Times New Roman" panose="02020603050405020304" pitchFamily="18" charset="0"/>
              </a:rPr>
              <a:t>) rely heavily on classic computer vision algorithms like </a:t>
            </a:r>
            <a:r>
              <a:rPr lang="en-US" b="1" dirty="0">
                <a:solidFill>
                  <a:schemeClr val="tx1"/>
                </a:solidFill>
                <a:latin typeface="Times New Roman" panose="02020603050405020304" pitchFamily="18" charset="0"/>
                <a:cs typeface="Times New Roman" panose="02020603050405020304" pitchFamily="18" charset="0"/>
              </a:rPr>
              <a:t>Canny Edge Detection</a:t>
            </a:r>
            <a:r>
              <a:rPr lang="en-US" dirty="0">
                <a:solidFill>
                  <a:schemeClr val="tx1"/>
                </a:solidFill>
                <a:latin typeface="Times New Roman" panose="02020603050405020304" pitchFamily="18" charset="0"/>
                <a:cs typeface="Times New Roman" panose="02020603050405020304" pitchFamily="18" charset="0"/>
              </a:rPr>
              <a:t> or </a:t>
            </a:r>
            <a:r>
              <a:rPr lang="en-US" b="1" dirty="0">
                <a:solidFill>
                  <a:schemeClr val="tx1"/>
                </a:solidFill>
                <a:latin typeface="Times New Roman" panose="02020603050405020304" pitchFamily="18" charset="0"/>
                <a:cs typeface="Times New Roman" panose="02020603050405020304" pitchFamily="18" charset="0"/>
              </a:rPr>
              <a:t>contour tracing</a:t>
            </a:r>
            <a:r>
              <a:rPr lang="en-US" dirty="0">
                <a:solidFill>
                  <a:schemeClr val="tx1"/>
                </a:solidFill>
                <a:latin typeface="Times New Roman" panose="02020603050405020304" pitchFamily="18" charset="0"/>
                <a:cs typeface="Times New Roman" panose="02020603050405020304" pitchFamily="18" charset="0"/>
              </a:rPr>
              <a:t> on the input image.</a:t>
            </a:r>
          </a:p>
          <a:p>
            <a:pPr algn="just">
              <a:lnSpc>
                <a:spcPct val="150000"/>
              </a:lnSpc>
              <a:buClrTx/>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Some deep learning models might output raw voxels or an imperfect mesh that is not structurally sound for use in game engines or professional software.</a:t>
            </a:r>
          </a:p>
          <a:p>
            <a:pPr algn="just">
              <a:lnSpc>
                <a:spcPct val="150000"/>
              </a:lnSpc>
              <a:buClrTx/>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Many systems stop at intermediate outputs like heightmaps or voxel grids, requiring external tools for mesh generation and visualization.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607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780EB-3BCC-4C16-EB6E-714F0AA65574}"/>
              </a:ext>
            </a:extLst>
          </p:cNvPr>
          <p:cNvSpPr>
            <a:spLocks noGrp="1"/>
          </p:cNvSpPr>
          <p:nvPr>
            <p:ph type="title"/>
          </p:nvPr>
        </p:nvSpPr>
        <p:spPr>
          <a:xfrm>
            <a:off x="1797666" y="114300"/>
            <a:ext cx="8596668" cy="980661"/>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Problem Statement </a:t>
            </a:r>
            <a:br>
              <a:rPr lang="en-IN" dirty="0"/>
            </a:br>
            <a:endParaRPr lang="en-IN" dirty="0"/>
          </a:p>
        </p:txBody>
      </p:sp>
      <p:sp>
        <p:nvSpPr>
          <p:cNvPr id="3" name="Content Placeholder 2">
            <a:extLst>
              <a:ext uri="{FF2B5EF4-FFF2-40B4-BE49-F238E27FC236}">
                <a16:creationId xmlns:a16="http://schemas.microsoft.com/office/drawing/2014/main" id="{946239E1-E032-D8D4-A3FD-B17D72ED5B2A}"/>
              </a:ext>
            </a:extLst>
          </p:cNvPr>
          <p:cNvSpPr>
            <a:spLocks noGrp="1"/>
          </p:cNvSpPr>
          <p:nvPr>
            <p:ph idx="1"/>
          </p:nvPr>
        </p:nvSpPr>
        <p:spPr>
          <a:xfrm>
            <a:off x="684880" y="841396"/>
            <a:ext cx="10822240" cy="3880773"/>
          </a:xfrm>
        </p:spPr>
        <p:txBody>
          <a:bodyPr>
            <a:noAutofit/>
          </a:bodyPr>
          <a:lstStyle/>
          <a:p>
            <a:pPr marL="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Real estate developers struggle to market properties before sample flats are built, as traditional tools like brochures and 2D floor plans fail to give buyers a true sense of the space. This limits early sales and customer engagement. There is a need for a solution that transforms 2D floor plans into realistic 3D models viewable in Virtual Reality (VR), enabling customers to explore and experience the property before construction is complete.</a:t>
            </a:r>
            <a:endParaRPr lang="en-IN"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Elaboration of Problem Statement:</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Limitations of Traditional Tools: </a:t>
            </a:r>
            <a:r>
              <a:rPr lang="en-US" dirty="0">
                <a:solidFill>
                  <a:schemeClr val="tx1"/>
                </a:solidFill>
                <a:latin typeface="Times New Roman" panose="02020603050405020304" pitchFamily="18" charset="0"/>
                <a:cs typeface="Times New Roman" panose="02020603050405020304" pitchFamily="18" charset="0"/>
              </a:rPr>
              <a:t>Marketing materials such as static images, drawings, or brochures are not interactive, fail to convey depth, and do not provide an immersive experience of space.</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Impact on Sales and Engagement: </a:t>
            </a:r>
            <a:r>
              <a:rPr lang="en-US" dirty="0">
                <a:solidFill>
                  <a:schemeClr val="tx1"/>
                </a:solidFill>
                <a:latin typeface="Times New Roman" panose="02020603050405020304" pitchFamily="18" charset="0"/>
                <a:cs typeface="Times New Roman" panose="02020603050405020304" pitchFamily="18" charset="0"/>
              </a:rPr>
              <a:t>Because customers cannot truly visualize the property, they hesitate to make early purchase decisions. This limits the ability of developers to secure bookings before construction is complete.</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High Cost of Current Alternatives: </a:t>
            </a:r>
            <a:r>
              <a:rPr lang="en-US" dirty="0">
                <a:solidFill>
                  <a:schemeClr val="tx1"/>
                </a:solidFill>
                <a:latin typeface="Times New Roman" panose="02020603050405020304" pitchFamily="18" charset="0"/>
                <a:cs typeface="Times New Roman" panose="02020603050405020304" pitchFamily="18" charset="0"/>
              </a:rPr>
              <a:t>Existing 3D modeling or VR solutions require skilled designers, manual CAD work, and expensive tools. These methods are not scalable when developers need to showcase multiple flats, towers, or entire projects.</a:t>
            </a:r>
          </a:p>
          <a:p>
            <a:pPr marL="0" indent="0" algn="just">
              <a:lnSpc>
                <a:spcPct val="150000"/>
              </a:lnSpc>
              <a:buNone/>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155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6B3B71-3893-6EAC-7EFE-D131CF7D22F6}"/>
              </a:ext>
            </a:extLst>
          </p:cNvPr>
          <p:cNvSpPr>
            <a:spLocks noGrp="1"/>
          </p:cNvSpPr>
          <p:nvPr>
            <p:ph idx="1"/>
          </p:nvPr>
        </p:nvSpPr>
        <p:spPr>
          <a:xfrm>
            <a:off x="677334" y="467591"/>
            <a:ext cx="10420157" cy="5573771"/>
          </a:xfrm>
        </p:spPr>
        <p:txBody>
          <a:bodyPr/>
          <a:lstStyle/>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Need for Automation: </a:t>
            </a:r>
            <a:r>
              <a:rPr lang="en-US" dirty="0">
                <a:solidFill>
                  <a:schemeClr val="tx1"/>
                </a:solidFill>
                <a:latin typeface="Times New Roman" panose="02020603050405020304" pitchFamily="18" charset="0"/>
                <a:cs typeface="Times New Roman" panose="02020603050405020304" pitchFamily="18" charset="0"/>
              </a:rPr>
              <a:t>Developers require an automated system that can quickly convert 2D architectural floor plans into interactive 3D models without heavy manual intervention.</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VR Integration: </a:t>
            </a:r>
            <a:r>
              <a:rPr lang="en-US" dirty="0">
                <a:solidFill>
                  <a:schemeClr val="tx1"/>
                </a:solidFill>
                <a:latin typeface="Times New Roman" panose="02020603050405020304" pitchFamily="18" charset="0"/>
                <a:cs typeface="Times New Roman" panose="02020603050405020304" pitchFamily="18" charset="0"/>
              </a:rPr>
              <a:t>The solution should provide VR-ready walkthroughs, allowing customers to explore and experience the property virtually as if they were physically present.</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Business Value: </a:t>
            </a:r>
            <a:r>
              <a:rPr lang="en-US" dirty="0">
                <a:solidFill>
                  <a:schemeClr val="tx1"/>
                </a:solidFill>
                <a:latin typeface="Times New Roman" panose="02020603050405020304" pitchFamily="18" charset="0"/>
                <a:cs typeface="Times New Roman" panose="02020603050405020304" pitchFamily="18" charset="0"/>
              </a:rPr>
              <a:t>Such a solution would enhance customer trust, improve engagement, accelerate early sales, and reduce reliance on costly sample flats.</a:t>
            </a:r>
          </a:p>
          <a:p>
            <a:pPr algn="just">
              <a:lnSpc>
                <a:spcPct val="150000"/>
              </a:lnSpc>
              <a:buClrTx/>
              <a:buSzPct val="10000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Difficulty in Visualization: </a:t>
            </a:r>
            <a:r>
              <a:rPr lang="en-US" dirty="0">
                <a:solidFill>
                  <a:schemeClr val="tx1"/>
                </a:solidFill>
                <a:latin typeface="Times New Roman" panose="02020603050405020304" pitchFamily="18" charset="0"/>
                <a:cs typeface="Times New Roman" panose="02020603050405020304" pitchFamily="18" charset="0"/>
              </a:rPr>
              <a:t>Buyers often struggle to imagine the real look and feel of a property by only seeing 2D floor plans or printed brochures. This creates a gap between design intent and customer understanding.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94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5B641-A36C-50B9-8F97-9EF455F93449}"/>
              </a:ext>
            </a:extLst>
          </p:cNvPr>
          <p:cNvSpPr>
            <a:spLocks noGrp="1"/>
          </p:cNvSpPr>
          <p:nvPr>
            <p:ph type="title"/>
          </p:nvPr>
        </p:nvSpPr>
        <p:spPr>
          <a:xfrm>
            <a:off x="1797666" y="173873"/>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System Design</a:t>
            </a:r>
            <a:endParaRPr lang="en-IN" dirty="0"/>
          </a:p>
        </p:txBody>
      </p:sp>
      <p:sp>
        <p:nvSpPr>
          <p:cNvPr id="7" name="TextBox 6">
            <a:extLst>
              <a:ext uri="{FF2B5EF4-FFF2-40B4-BE49-F238E27FC236}">
                <a16:creationId xmlns:a16="http://schemas.microsoft.com/office/drawing/2014/main" id="{DE4BA6D0-A551-31CC-0F6E-92F32E5E72F5}"/>
              </a:ext>
            </a:extLst>
          </p:cNvPr>
          <p:cNvSpPr txBox="1"/>
          <p:nvPr/>
        </p:nvSpPr>
        <p:spPr>
          <a:xfrm>
            <a:off x="6321287" y="6127535"/>
            <a:ext cx="5307495" cy="523220"/>
          </a:xfrm>
          <a:prstGeom prst="rect">
            <a:avLst/>
          </a:prstGeom>
          <a:noFill/>
        </p:spPr>
        <p:txBody>
          <a:bodyPr wrap="square" rtlCol="0">
            <a:spAutoFit/>
          </a:bodyPr>
          <a:lstStyle/>
          <a:p>
            <a:r>
              <a:rPr lang="en-IN" sz="1400" b="1" i="1" dirty="0"/>
              <a:t>Fig.1. Architecture Diagram for </a:t>
            </a:r>
            <a:r>
              <a:rPr lang="en-IN" sz="1400" b="1" i="1" dirty="0" err="1"/>
              <a:t>VRGen</a:t>
            </a:r>
            <a:r>
              <a:rPr lang="en-IN" sz="1400" b="1" i="1" dirty="0"/>
              <a:t>: Deep Learning-Based VR Property Walkthroughs Using 2D Plans</a:t>
            </a:r>
          </a:p>
        </p:txBody>
      </p:sp>
      <p:pic>
        <p:nvPicPr>
          <p:cNvPr id="4" name="Picture 3">
            <a:extLst>
              <a:ext uri="{FF2B5EF4-FFF2-40B4-BE49-F238E27FC236}">
                <a16:creationId xmlns:a16="http://schemas.microsoft.com/office/drawing/2014/main" id="{91CDC7FA-1503-013D-0640-D540DF699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5645"/>
            <a:ext cx="12192000" cy="5952355"/>
          </a:xfrm>
          <a:prstGeom prst="rect">
            <a:avLst/>
          </a:prstGeom>
        </p:spPr>
      </p:pic>
    </p:spTree>
    <p:extLst>
      <p:ext uri="{BB962C8B-B14F-4D97-AF65-F5344CB8AC3E}">
        <p14:creationId xmlns:p14="http://schemas.microsoft.com/office/powerpoint/2010/main" val="61243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43704-283F-ACC6-ACE7-D0922732835D}"/>
              </a:ext>
            </a:extLst>
          </p:cNvPr>
          <p:cNvSpPr>
            <a:spLocks noGrp="1"/>
          </p:cNvSpPr>
          <p:nvPr>
            <p:ph type="title"/>
          </p:nvPr>
        </p:nvSpPr>
        <p:spPr>
          <a:xfrm>
            <a:off x="1797666" y="0"/>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System Design</a:t>
            </a:r>
          </a:p>
        </p:txBody>
      </p:sp>
      <p:sp>
        <p:nvSpPr>
          <p:cNvPr id="3" name="Content Placeholder 2">
            <a:extLst>
              <a:ext uri="{FF2B5EF4-FFF2-40B4-BE49-F238E27FC236}">
                <a16:creationId xmlns:a16="http://schemas.microsoft.com/office/drawing/2014/main" id="{B485DFBC-41B6-8409-6329-AFE8A3861141}"/>
              </a:ext>
            </a:extLst>
          </p:cNvPr>
          <p:cNvSpPr>
            <a:spLocks noGrp="1"/>
          </p:cNvSpPr>
          <p:nvPr>
            <p:ph idx="1"/>
          </p:nvPr>
        </p:nvSpPr>
        <p:spPr>
          <a:xfrm>
            <a:off x="502980" y="576369"/>
            <a:ext cx="11135742" cy="3880773"/>
          </a:xfrm>
        </p:spPr>
        <p:txBody>
          <a:bodyPr>
            <a:normAutofit fontScale="25000" lnSpcReduction="20000"/>
          </a:bodyPr>
          <a:lstStyle/>
          <a:p>
            <a:pPr marL="0" indent="0" algn="just">
              <a:lnSpc>
                <a:spcPct val="170000"/>
              </a:lnSpc>
              <a:buNone/>
            </a:pPr>
            <a:r>
              <a:rPr lang="en-IN" sz="7200" b="1" dirty="0">
                <a:latin typeface="Times New Roman" panose="02020603050405020304" pitchFamily="18" charset="0"/>
                <a:cs typeface="Times New Roman" panose="02020603050405020304" pitchFamily="18" charset="0"/>
              </a:rPr>
              <a:t>1</a:t>
            </a:r>
            <a:r>
              <a:rPr lang="en-IN" sz="7200" b="1" dirty="0">
                <a:solidFill>
                  <a:schemeClr val="tx1"/>
                </a:solidFill>
                <a:latin typeface="Times New Roman" panose="02020603050405020304" pitchFamily="18" charset="0"/>
                <a:cs typeface="Times New Roman" panose="02020603050405020304" pitchFamily="18" charset="0"/>
              </a:rPr>
              <a:t>. Input Floorplan Images</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The system begins with floorplan images in .</a:t>
            </a:r>
            <a:r>
              <a:rPr lang="en-IN" sz="7200" dirty="0" err="1">
                <a:solidFill>
                  <a:schemeClr val="tx1"/>
                </a:solidFill>
                <a:latin typeface="Times New Roman" panose="02020603050405020304" pitchFamily="18" charset="0"/>
                <a:cs typeface="Times New Roman" panose="02020603050405020304" pitchFamily="18" charset="0"/>
              </a:rPr>
              <a:t>png</a:t>
            </a:r>
            <a:r>
              <a:rPr lang="en-IN" sz="7200" dirty="0">
                <a:solidFill>
                  <a:schemeClr val="tx1"/>
                </a:solidFill>
                <a:latin typeface="Times New Roman" panose="02020603050405020304" pitchFamily="18" charset="0"/>
                <a:cs typeface="Times New Roman" panose="02020603050405020304" pitchFamily="18" charset="0"/>
              </a:rPr>
              <a:t> or .jpg format stored in data/floorplans/.</a:t>
            </a:r>
          </a:p>
          <a:p>
            <a:pPr marL="0" indent="0" algn="just">
              <a:lnSpc>
                <a:spcPct val="170000"/>
              </a:lnSpc>
              <a:buNone/>
            </a:pPr>
            <a:r>
              <a:rPr lang="en-IN" sz="7200" b="1" dirty="0">
                <a:solidFill>
                  <a:schemeClr val="tx1"/>
                </a:solidFill>
                <a:latin typeface="Times New Roman" panose="02020603050405020304" pitchFamily="18" charset="0"/>
                <a:cs typeface="Times New Roman" panose="02020603050405020304" pitchFamily="18" charset="0"/>
              </a:rPr>
              <a:t>2. Preprocessing &amp; Synthetic Target Generation (</a:t>
            </a:r>
            <a:r>
              <a:rPr lang="en-IN" sz="7200" b="1" dirty="0" err="1">
                <a:solidFill>
                  <a:schemeClr val="tx1"/>
                </a:solidFill>
                <a:latin typeface="Times New Roman" panose="02020603050405020304" pitchFamily="18" charset="0"/>
                <a:cs typeface="Times New Roman" panose="02020603050405020304" pitchFamily="18" charset="0"/>
              </a:rPr>
              <a:t>src</a:t>
            </a:r>
            <a:r>
              <a:rPr lang="en-IN" sz="7200" b="1" dirty="0">
                <a:solidFill>
                  <a:schemeClr val="tx1"/>
                </a:solidFill>
                <a:latin typeface="Times New Roman" panose="02020603050405020304" pitchFamily="18" charset="0"/>
                <a:cs typeface="Times New Roman" panose="02020603050405020304" pitchFamily="18" charset="0"/>
              </a:rPr>
              <a:t>/dataset.py)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Input images are resized, </a:t>
            </a:r>
            <a:r>
              <a:rPr lang="en-IN" sz="7200" dirty="0" err="1">
                <a:solidFill>
                  <a:schemeClr val="tx1"/>
                </a:solidFill>
                <a:latin typeface="Times New Roman" panose="02020603050405020304" pitchFamily="18" charset="0"/>
                <a:cs typeface="Times New Roman" panose="02020603050405020304" pitchFamily="18" charset="0"/>
              </a:rPr>
              <a:t>thresholded</a:t>
            </a:r>
            <a:r>
              <a:rPr lang="en-IN" sz="7200" dirty="0">
                <a:solidFill>
                  <a:schemeClr val="tx1"/>
                </a:solidFill>
                <a:latin typeface="Times New Roman" panose="02020603050405020304" pitchFamily="18" charset="0"/>
                <a:cs typeface="Times New Roman" panose="02020603050405020304" pitchFamily="18" charset="0"/>
              </a:rPr>
              <a:t>, and distance-transformed.</a:t>
            </a: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The output is a </a:t>
            </a:r>
            <a:r>
              <a:rPr lang="en-IN" sz="7200" b="1" dirty="0">
                <a:solidFill>
                  <a:schemeClr val="tx1"/>
                </a:solidFill>
                <a:latin typeface="Times New Roman" panose="02020603050405020304" pitchFamily="18" charset="0"/>
                <a:cs typeface="Times New Roman" panose="02020603050405020304" pitchFamily="18" charset="0"/>
              </a:rPr>
              <a:t>synthetic heightmap</a:t>
            </a:r>
            <a:r>
              <a:rPr lang="en-IN" sz="7200" dirty="0">
                <a:solidFill>
                  <a:schemeClr val="tx1"/>
                </a:solidFill>
                <a:latin typeface="Times New Roman" panose="02020603050405020304" pitchFamily="18" charset="0"/>
                <a:cs typeface="Times New Roman" panose="02020603050405020304" pitchFamily="18" charset="0"/>
              </a:rPr>
              <a:t> (.</a:t>
            </a:r>
            <a:r>
              <a:rPr lang="en-IN" sz="7200" dirty="0" err="1">
                <a:solidFill>
                  <a:schemeClr val="tx1"/>
                </a:solidFill>
                <a:latin typeface="Times New Roman" panose="02020603050405020304" pitchFamily="18" charset="0"/>
                <a:cs typeface="Times New Roman" panose="02020603050405020304" pitchFamily="18" charset="0"/>
              </a:rPr>
              <a:t>png</a:t>
            </a:r>
            <a:r>
              <a:rPr lang="en-IN" sz="7200" dirty="0">
                <a:solidFill>
                  <a:schemeClr val="tx1"/>
                </a:solidFill>
                <a:latin typeface="Times New Roman" panose="02020603050405020304" pitchFamily="18" charset="0"/>
                <a:cs typeface="Times New Roman" panose="02020603050405020304" pitchFamily="18" charset="0"/>
              </a:rPr>
              <a:t>), which serves as the target for training.</a:t>
            </a:r>
          </a:p>
          <a:p>
            <a:pPr marL="0" indent="0" algn="just">
              <a:lnSpc>
                <a:spcPct val="170000"/>
              </a:lnSpc>
              <a:buNone/>
            </a:pPr>
            <a:r>
              <a:rPr lang="en-IN" sz="7200" b="1" dirty="0">
                <a:solidFill>
                  <a:schemeClr val="tx1"/>
                </a:solidFill>
                <a:latin typeface="Times New Roman" panose="02020603050405020304" pitchFamily="18" charset="0"/>
                <a:cs typeface="Times New Roman" panose="02020603050405020304" pitchFamily="18" charset="0"/>
              </a:rPr>
              <a:t>3. Generator (U-Net, </a:t>
            </a:r>
            <a:r>
              <a:rPr lang="en-IN" sz="7200" b="1" dirty="0" err="1">
                <a:solidFill>
                  <a:schemeClr val="tx1"/>
                </a:solidFill>
                <a:latin typeface="Times New Roman" panose="02020603050405020304" pitchFamily="18" charset="0"/>
                <a:cs typeface="Times New Roman" panose="02020603050405020304" pitchFamily="18" charset="0"/>
              </a:rPr>
              <a:t>src</a:t>
            </a:r>
            <a:r>
              <a:rPr lang="en-IN" sz="7200" b="1" dirty="0">
                <a:solidFill>
                  <a:schemeClr val="tx1"/>
                </a:solidFill>
                <a:latin typeface="Times New Roman" panose="02020603050405020304" pitchFamily="18" charset="0"/>
                <a:cs typeface="Times New Roman" panose="02020603050405020304" pitchFamily="18" charset="0"/>
              </a:rPr>
              <a:t>/models.py)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The Generator model takes a 256×256 RGB floorplan as input.</a:t>
            </a: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It predicts a corresponding 256×256 </a:t>
            </a:r>
            <a:r>
              <a:rPr lang="en-IN" sz="7200" b="1" dirty="0">
                <a:solidFill>
                  <a:schemeClr val="tx1"/>
                </a:solidFill>
                <a:latin typeface="Times New Roman" panose="02020603050405020304" pitchFamily="18" charset="0"/>
                <a:cs typeface="Times New Roman" panose="02020603050405020304" pitchFamily="18" charset="0"/>
              </a:rPr>
              <a:t>heightmap</a:t>
            </a:r>
            <a:r>
              <a:rPr lang="en-IN" sz="7200" dirty="0">
                <a:solidFill>
                  <a:schemeClr val="tx1"/>
                </a:solidFill>
                <a:latin typeface="Times New Roman" panose="02020603050405020304" pitchFamily="18" charset="0"/>
                <a:cs typeface="Times New Roman" panose="02020603050405020304" pitchFamily="18" charset="0"/>
              </a:rPr>
              <a:t>, representing elevation data.</a:t>
            </a:r>
          </a:p>
          <a:p>
            <a:pPr marL="0" indent="0" algn="just">
              <a:lnSpc>
                <a:spcPct val="170000"/>
              </a:lnSpc>
              <a:buNone/>
            </a:pPr>
            <a:r>
              <a:rPr lang="en-IN" sz="7200" b="1" dirty="0">
                <a:solidFill>
                  <a:schemeClr val="tx1"/>
                </a:solidFill>
                <a:latin typeface="Times New Roman" panose="02020603050405020304" pitchFamily="18" charset="0"/>
                <a:cs typeface="Times New Roman" panose="02020603050405020304" pitchFamily="18" charset="0"/>
              </a:rPr>
              <a:t>4. Discriminator (</a:t>
            </a:r>
            <a:r>
              <a:rPr lang="en-IN" sz="7200" b="1" dirty="0" err="1">
                <a:solidFill>
                  <a:schemeClr val="tx1"/>
                </a:solidFill>
                <a:latin typeface="Times New Roman" panose="02020603050405020304" pitchFamily="18" charset="0"/>
                <a:cs typeface="Times New Roman" panose="02020603050405020304" pitchFamily="18" charset="0"/>
              </a:rPr>
              <a:t>PatchGAN</a:t>
            </a:r>
            <a:r>
              <a:rPr lang="en-IN" sz="7200" b="1" dirty="0">
                <a:solidFill>
                  <a:schemeClr val="tx1"/>
                </a:solidFill>
                <a:latin typeface="Times New Roman" panose="02020603050405020304" pitchFamily="18" charset="0"/>
                <a:cs typeface="Times New Roman" panose="02020603050405020304" pitchFamily="18" charset="0"/>
              </a:rPr>
              <a:t>, </a:t>
            </a:r>
            <a:r>
              <a:rPr lang="en-IN" sz="7200" b="1" dirty="0" err="1">
                <a:solidFill>
                  <a:schemeClr val="tx1"/>
                </a:solidFill>
                <a:latin typeface="Times New Roman" panose="02020603050405020304" pitchFamily="18" charset="0"/>
                <a:cs typeface="Times New Roman" panose="02020603050405020304" pitchFamily="18" charset="0"/>
              </a:rPr>
              <a:t>src</a:t>
            </a:r>
            <a:r>
              <a:rPr lang="en-IN" sz="7200" b="1" dirty="0">
                <a:solidFill>
                  <a:schemeClr val="tx1"/>
                </a:solidFill>
                <a:latin typeface="Times New Roman" panose="02020603050405020304" pitchFamily="18" charset="0"/>
                <a:cs typeface="Times New Roman" panose="02020603050405020304" pitchFamily="18" charset="0"/>
              </a:rPr>
              <a:t>/models.py)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During training, the Discriminator evaluates pairs of (floorplan + heightmap) to determine whether the generated heightmap is real or fake.</a:t>
            </a:r>
          </a:p>
          <a:p>
            <a:pPr algn="just">
              <a:lnSpc>
                <a:spcPct val="17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It provides feedback to improve the Generator.</a:t>
            </a:r>
          </a:p>
          <a:p>
            <a:pPr marL="0" indent="0" algn="just">
              <a:lnSpc>
                <a:spcPct val="170000"/>
              </a:lnSpc>
              <a:buClrTx/>
              <a:buSzPct val="100000"/>
              <a:buNone/>
            </a:pPr>
            <a:endParaRPr lang="en-IN" sz="1200" dirty="0">
              <a:solidFill>
                <a:schemeClr val="tx1"/>
              </a:solidFill>
              <a:latin typeface="Times New Roman" panose="02020603050405020304" pitchFamily="18" charset="0"/>
              <a:cs typeface="Times New Roman" panose="02020603050405020304" pitchFamily="18" charset="0"/>
            </a:endParaRPr>
          </a:p>
          <a:p>
            <a:pPr marL="0" indent="0">
              <a:lnSpc>
                <a:spcPct val="160000"/>
              </a:lnSpc>
              <a:buClrTx/>
              <a:buSzPct val="100000"/>
              <a:buNone/>
            </a:pPr>
            <a:endParaRPr lang="en-IN" sz="2300"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ClrTx/>
              <a:buSzPct val="100000"/>
              <a:buNone/>
            </a:pPr>
            <a:endParaRPr lang="en-IN"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605052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5132E3-CEA6-65F3-2D84-8946B08D059C}"/>
              </a:ext>
            </a:extLst>
          </p:cNvPr>
          <p:cNvSpPr>
            <a:spLocks noGrp="1"/>
          </p:cNvSpPr>
          <p:nvPr>
            <p:ph idx="1"/>
          </p:nvPr>
        </p:nvSpPr>
        <p:spPr>
          <a:xfrm>
            <a:off x="781241" y="560390"/>
            <a:ext cx="10499672" cy="3880773"/>
          </a:xfrm>
        </p:spPr>
        <p:txBody>
          <a:bodyPr>
            <a:normAutofit fontScale="25000" lnSpcReduction="20000"/>
          </a:bodyPr>
          <a:lstStyle/>
          <a:p>
            <a:pPr marL="0" indent="0" algn="just">
              <a:lnSpc>
                <a:spcPct val="160000"/>
              </a:lnSpc>
              <a:buNone/>
            </a:pPr>
            <a:r>
              <a:rPr lang="en-IN" sz="7200" b="1" dirty="0">
                <a:solidFill>
                  <a:schemeClr val="tx1"/>
                </a:solidFill>
                <a:latin typeface="Times New Roman" panose="02020603050405020304" pitchFamily="18" charset="0"/>
                <a:cs typeface="Times New Roman" panose="02020603050405020304" pitchFamily="18" charset="0"/>
              </a:rPr>
              <a:t>5. Training Loop (</a:t>
            </a:r>
            <a:r>
              <a:rPr lang="en-IN" sz="7200" b="1" dirty="0" err="1">
                <a:solidFill>
                  <a:schemeClr val="tx1"/>
                </a:solidFill>
                <a:latin typeface="Times New Roman" panose="02020603050405020304" pitchFamily="18" charset="0"/>
                <a:cs typeface="Times New Roman" panose="02020603050405020304" pitchFamily="18" charset="0"/>
              </a:rPr>
              <a:t>src</a:t>
            </a:r>
            <a:r>
              <a:rPr lang="en-IN" sz="7200" b="1" dirty="0">
                <a:solidFill>
                  <a:schemeClr val="tx1"/>
                </a:solidFill>
                <a:latin typeface="Times New Roman" panose="02020603050405020304" pitchFamily="18" charset="0"/>
                <a:cs typeface="Times New Roman" panose="02020603050405020304" pitchFamily="18" charset="0"/>
              </a:rPr>
              <a:t>/train.py)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Uses </a:t>
            </a:r>
            <a:r>
              <a:rPr lang="en-IN" sz="7200" b="1" dirty="0">
                <a:solidFill>
                  <a:schemeClr val="tx1"/>
                </a:solidFill>
                <a:latin typeface="Times New Roman" panose="02020603050405020304" pitchFamily="18" charset="0"/>
                <a:cs typeface="Times New Roman" panose="02020603050405020304" pitchFamily="18" charset="0"/>
              </a:rPr>
              <a:t>GAN + L1 losses</a:t>
            </a:r>
            <a:r>
              <a:rPr lang="en-IN" sz="7200" dirty="0">
                <a:solidFill>
                  <a:schemeClr val="tx1"/>
                </a:solidFill>
                <a:latin typeface="Times New Roman" panose="02020603050405020304" pitchFamily="18" charset="0"/>
                <a:cs typeface="Times New Roman" panose="02020603050405020304" pitchFamily="18" charset="0"/>
              </a:rPr>
              <a:t> to optimize the model.</a:t>
            </a: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Model weights are saved as checkpoints (checkpoints/</a:t>
            </a:r>
            <a:r>
              <a:rPr lang="en-IN" sz="7200" dirty="0" err="1">
                <a:solidFill>
                  <a:schemeClr val="tx1"/>
                </a:solidFill>
                <a:latin typeface="Times New Roman" panose="02020603050405020304" pitchFamily="18" charset="0"/>
                <a:cs typeface="Times New Roman" panose="02020603050405020304" pitchFamily="18" charset="0"/>
              </a:rPr>
              <a:t>netG</a:t>
            </a:r>
            <a:r>
              <a:rPr lang="en-IN" sz="7200" dirty="0">
                <a:solidFill>
                  <a:schemeClr val="tx1"/>
                </a:solidFill>
                <a:latin typeface="Times New Roman" panose="02020603050405020304" pitchFamily="18" charset="0"/>
                <a:cs typeface="Times New Roman" panose="02020603050405020304" pitchFamily="18" charset="0"/>
              </a:rPr>
              <a:t>_*.</a:t>
            </a:r>
            <a:r>
              <a:rPr lang="en-IN" sz="7200" dirty="0" err="1">
                <a:solidFill>
                  <a:schemeClr val="tx1"/>
                </a:solidFill>
                <a:latin typeface="Times New Roman" panose="02020603050405020304" pitchFamily="18" charset="0"/>
                <a:cs typeface="Times New Roman" panose="02020603050405020304" pitchFamily="18" charset="0"/>
              </a:rPr>
              <a:t>pth</a:t>
            </a:r>
            <a:r>
              <a:rPr lang="en-IN" sz="7200" dirty="0">
                <a:solidFill>
                  <a:schemeClr val="tx1"/>
                </a:solidFill>
                <a:latin typeface="Times New Roman" panose="02020603050405020304" pitchFamily="18" charset="0"/>
                <a:cs typeface="Times New Roman" panose="02020603050405020304" pitchFamily="18" charset="0"/>
              </a:rPr>
              <a:t>).</a:t>
            </a:r>
          </a:p>
          <a:p>
            <a:pPr marL="0" indent="0" algn="just">
              <a:lnSpc>
                <a:spcPct val="160000"/>
              </a:lnSpc>
              <a:buNone/>
            </a:pPr>
            <a:r>
              <a:rPr lang="en-IN" sz="7200" b="1" dirty="0">
                <a:solidFill>
                  <a:schemeClr val="tx1"/>
                </a:solidFill>
                <a:latin typeface="Times New Roman" panose="02020603050405020304" pitchFamily="18" charset="0"/>
                <a:cs typeface="Times New Roman" panose="02020603050405020304" pitchFamily="18" charset="0"/>
              </a:rPr>
              <a:t>6. Inference (src/infer.py / batch_infer.py)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Loads the trained model (</a:t>
            </a:r>
            <a:r>
              <a:rPr lang="en-IN" sz="7200" dirty="0" err="1">
                <a:solidFill>
                  <a:schemeClr val="tx1"/>
                </a:solidFill>
                <a:latin typeface="Times New Roman" panose="02020603050405020304" pitchFamily="18" charset="0"/>
                <a:cs typeface="Times New Roman" panose="02020603050405020304" pitchFamily="18" charset="0"/>
              </a:rPr>
              <a:t>netG_final.pth</a:t>
            </a:r>
            <a:r>
              <a:rPr lang="en-IN" sz="7200" dirty="0">
                <a:solidFill>
                  <a:schemeClr val="tx1"/>
                </a:solidFill>
                <a:latin typeface="Times New Roman" panose="02020603050405020304" pitchFamily="18" charset="0"/>
                <a:cs typeface="Times New Roman" panose="02020603050405020304" pitchFamily="18" charset="0"/>
              </a:rPr>
              <a:t>) to generate 3D outputs (.</a:t>
            </a:r>
            <a:r>
              <a:rPr lang="en-IN" sz="7200" dirty="0" err="1">
                <a:solidFill>
                  <a:schemeClr val="tx1"/>
                </a:solidFill>
                <a:latin typeface="Times New Roman" panose="02020603050405020304" pitchFamily="18" charset="0"/>
                <a:cs typeface="Times New Roman" panose="02020603050405020304" pitchFamily="18" charset="0"/>
              </a:rPr>
              <a:t>glb</a:t>
            </a:r>
            <a:r>
              <a:rPr lang="en-IN" sz="7200" dirty="0">
                <a:solidFill>
                  <a:schemeClr val="tx1"/>
                </a:solidFill>
                <a:latin typeface="Times New Roman" panose="02020603050405020304" pitchFamily="18" charset="0"/>
                <a:cs typeface="Times New Roman" panose="02020603050405020304" pitchFamily="18" charset="0"/>
              </a:rPr>
              <a:t> files).</a:t>
            </a:r>
          </a:p>
          <a:p>
            <a:pPr marL="0" indent="0" algn="just">
              <a:lnSpc>
                <a:spcPct val="160000"/>
              </a:lnSpc>
              <a:buNone/>
            </a:pPr>
            <a:r>
              <a:rPr lang="en-IN" sz="7200" b="1" dirty="0">
                <a:solidFill>
                  <a:schemeClr val="tx1"/>
                </a:solidFill>
                <a:latin typeface="Times New Roman" panose="02020603050405020304" pitchFamily="18" charset="0"/>
                <a:cs typeface="Times New Roman" panose="02020603050405020304" pitchFamily="18" charset="0"/>
              </a:rPr>
              <a:t>7. Heightmap → Mesh Conversion (</a:t>
            </a:r>
            <a:r>
              <a:rPr lang="en-IN" sz="7200" b="1" dirty="0" err="1">
                <a:solidFill>
                  <a:schemeClr val="tx1"/>
                </a:solidFill>
                <a:latin typeface="Times New Roman" panose="02020603050405020304" pitchFamily="18" charset="0"/>
                <a:cs typeface="Times New Roman" panose="02020603050405020304" pitchFamily="18" charset="0"/>
              </a:rPr>
              <a:t>src</a:t>
            </a:r>
            <a:r>
              <a:rPr lang="en-IN" sz="7200" b="1" dirty="0">
                <a:solidFill>
                  <a:schemeClr val="tx1"/>
                </a:solidFill>
                <a:latin typeface="Times New Roman" panose="02020603050405020304" pitchFamily="18" charset="0"/>
                <a:cs typeface="Times New Roman" panose="02020603050405020304" pitchFamily="18" charset="0"/>
              </a:rPr>
              <a:t>/utils.py)</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Converts the predicted heightmap into a </a:t>
            </a:r>
            <a:r>
              <a:rPr lang="en-IN" sz="7200" b="1" dirty="0">
                <a:solidFill>
                  <a:schemeClr val="tx1"/>
                </a:solidFill>
                <a:latin typeface="Times New Roman" panose="02020603050405020304" pitchFamily="18" charset="0"/>
                <a:cs typeface="Times New Roman" panose="02020603050405020304" pitchFamily="18" charset="0"/>
              </a:rPr>
              <a:t>3D mesh</a:t>
            </a:r>
            <a:r>
              <a:rPr lang="en-IN" sz="7200" dirty="0">
                <a:solidFill>
                  <a:schemeClr val="tx1"/>
                </a:solidFill>
                <a:latin typeface="Times New Roman" panose="02020603050405020304" pitchFamily="18" charset="0"/>
                <a:cs typeface="Times New Roman" panose="02020603050405020304" pitchFamily="18" charset="0"/>
              </a:rPr>
              <a:t> using </a:t>
            </a:r>
            <a:r>
              <a:rPr lang="en-IN" sz="7200" dirty="0" err="1">
                <a:solidFill>
                  <a:schemeClr val="tx1"/>
                </a:solidFill>
                <a:latin typeface="Times New Roman" panose="02020603050405020304" pitchFamily="18" charset="0"/>
                <a:cs typeface="Times New Roman" panose="02020603050405020304" pitchFamily="18" charset="0"/>
              </a:rPr>
              <a:t>Trimesh</a:t>
            </a:r>
            <a:r>
              <a:rPr lang="en-IN" sz="7200" dirty="0">
                <a:solidFill>
                  <a:schemeClr val="tx1"/>
                </a:solidFill>
                <a:latin typeface="Times New Roman" panose="02020603050405020304" pitchFamily="18" charset="0"/>
                <a:cs typeface="Times New Roman" panose="02020603050405020304" pitchFamily="18" charset="0"/>
              </a:rPr>
              <a:t> voxelization.</a:t>
            </a: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Outputs are .</a:t>
            </a:r>
            <a:r>
              <a:rPr lang="en-IN" sz="7200" dirty="0" err="1">
                <a:solidFill>
                  <a:schemeClr val="tx1"/>
                </a:solidFill>
                <a:latin typeface="Times New Roman" panose="02020603050405020304" pitchFamily="18" charset="0"/>
                <a:cs typeface="Times New Roman" panose="02020603050405020304" pitchFamily="18" charset="0"/>
              </a:rPr>
              <a:t>glb</a:t>
            </a:r>
            <a:r>
              <a:rPr lang="en-IN" sz="7200" dirty="0">
                <a:solidFill>
                  <a:schemeClr val="tx1"/>
                </a:solidFill>
                <a:latin typeface="Times New Roman" panose="02020603050405020304" pitchFamily="18" charset="0"/>
                <a:cs typeface="Times New Roman" panose="02020603050405020304" pitchFamily="18" charset="0"/>
              </a:rPr>
              <a:t> and .ply files.</a:t>
            </a:r>
          </a:p>
          <a:p>
            <a:pPr marL="0" indent="0" algn="just">
              <a:lnSpc>
                <a:spcPct val="160000"/>
              </a:lnSpc>
              <a:buNone/>
            </a:pPr>
            <a:r>
              <a:rPr lang="en-IN" sz="7200" b="1" dirty="0">
                <a:solidFill>
                  <a:schemeClr val="tx1"/>
                </a:solidFill>
                <a:latin typeface="Times New Roman" panose="02020603050405020304" pitchFamily="18" charset="0"/>
                <a:cs typeface="Times New Roman" panose="02020603050405020304" pitchFamily="18" charset="0"/>
              </a:rPr>
              <a:t>8. Export &amp; Visualization</a:t>
            </a:r>
            <a:endParaRPr lang="en-IN" sz="72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The 3D meshes are exported to outputs/meshes/*.</a:t>
            </a:r>
            <a:r>
              <a:rPr lang="en-IN" sz="7200" dirty="0" err="1">
                <a:solidFill>
                  <a:schemeClr val="tx1"/>
                </a:solidFill>
                <a:latin typeface="Times New Roman" panose="02020603050405020304" pitchFamily="18" charset="0"/>
                <a:cs typeface="Times New Roman" panose="02020603050405020304" pitchFamily="18" charset="0"/>
              </a:rPr>
              <a:t>glb</a:t>
            </a:r>
            <a:r>
              <a:rPr lang="en-IN" sz="7200" dirty="0">
                <a:solidFill>
                  <a:schemeClr val="tx1"/>
                </a:solidFill>
                <a:latin typeface="Times New Roman" panose="02020603050405020304" pitchFamily="18" charset="0"/>
                <a:cs typeface="Times New Roman" panose="02020603050405020304" pitchFamily="18" charset="0"/>
              </a:rPr>
              <a:t>.</a:t>
            </a:r>
          </a:p>
          <a:p>
            <a:pPr algn="just">
              <a:lnSpc>
                <a:spcPct val="160000"/>
              </a:lnSpc>
              <a:buClr>
                <a:schemeClr val="tx1"/>
              </a:buClr>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Finally, they can be viewed in an </a:t>
            </a:r>
            <a:r>
              <a:rPr lang="en-IN" sz="7200" b="1" dirty="0">
                <a:solidFill>
                  <a:schemeClr val="tx1"/>
                </a:solidFill>
                <a:latin typeface="Times New Roman" panose="02020603050405020304" pitchFamily="18" charset="0"/>
                <a:cs typeface="Times New Roman" panose="02020603050405020304" pitchFamily="18" charset="0"/>
              </a:rPr>
              <a:t>interactive browser viewer</a:t>
            </a:r>
            <a:r>
              <a:rPr lang="en-IN" sz="7200" dirty="0">
                <a:solidFill>
                  <a:schemeClr val="tx1"/>
                </a:solidFill>
                <a:latin typeface="Times New Roman" panose="02020603050405020304" pitchFamily="18" charset="0"/>
                <a:cs typeface="Times New Roman" panose="02020603050405020304" pitchFamily="18" charset="0"/>
              </a:rPr>
              <a:t> (</a:t>
            </a:r>
            <a:r>
              <a:rPr lang="en-IN" sz="7200" dirty="0" err="1">
                <a:solidFill>
                  <a:schemeClr val="tx1"/>
                </a:solidFill>
                <a:latin typeface="Times New Roman" panose="02020603050405020304" pitchFamily="18" charset="0"/>
                <a:cs typeface="Times New Roman" panose="02020603050405020304" pitchFamily="18" charset="0"/>
              </a:rPr>
              <a:t>src</a:t>
            </a:r>
            <a:r>
              <a:rPr lang="en-IN" sz="7200" dirty="0">
                <a:solidFill>
                  <a:schemeClr val="tx1"/>
                </a:solidFill>
                <a:latin typeface="Times New Roman" panose="02020603050405020304" pitchFamily="18" charset="0"/>
                <a:cs typeface="Times New Roman" panose="02020603050405020304" pitchFamily="18" charset="0"/>
              </a:rPr>
              <a:t>/view_mesh.py) using </a:t>
            </a:r>
            <a:r>
              <a:rPr lang="en-IN" sz="7200" b="1" dirty="0" err="1">
                <a:solidFill>
                  <a:schemeClr val="tx1"/>
                </a:solidFill>
                <a:latin typeface="Times New Roman" panose="02020603050405020304" pitchFamily="18" charset="0"/>
                <a:cs typeface="Times New Roman" panose="02020603050405020304" pitchFamily="18" charset="0"/>
              </a:rPr>
              <a:t>Plotly</a:t>
            </a:r>
            <a:r>
              <a:rPr lang="en-IN" sz="7200" dirty="0">
                <a:solidFill>
                  <a:schemeClr val="tx1"/>
                </a:solidFill>
                <a:latin typeface="Times New Roman" panose="02020603050405020304" pitchFamily="18" charset="0"/>
                <a:cs typeface="Times New Roman" panose="02020603050405020304" pitchFamily="18" charset="0"/>
              </a:rPr>
              <a:t>, producing view.html.</a:t>
            </a:r>
          </a:p>
          <a:p>
            <a:pPr marL="0" indent="0">
              <a:buNone/>
            </a:pPr>
            <a:endParaRPr lang="en-IN" dirty="0"/>
          </a:p>
        </p:txBody>
      </p:sp>
    </p:spTree>
    <p:extLst>
      <p:ext uri="{BB962C8B-B14F-4D97-AF65-F5344CB8AC3E}">
        <p14:creationId xmlns:p14="http://schemas.microsoft.com/office/powerpoint/2010/main" val="3064073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8F4A-1C14-1E92-706C-F6047092F40D}"/>
              </a:ext>
            </a:extLst>
          </p:cNvPr>
          <p:cNvSpPr>
            <a:spLocks noGrp="1"/>
          </p:cNvSpPr>
          <p:nvPr>
            <p:ph type="title"/>
          </p:nvPr>
        </p:nvSpPr>
        <p:spPr>
          <a:xfrm>
            <a:off x="1775152" y="0"/>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Tools and Technologies </a:t>
            </a:r>
            <a:br>
              <a:rPr lang="en-IN" dirty="0"/>
            </a:br>
            <a:endParaRPr lang="en-IN" dirty="0"/>
          </a:p>
        </p:txBody>
      </p:sp>
      <p:sp>
        <p:nvSpPr>
          <p:cNvPr id="3" name="Content Placeholder 2">
            <a:extLst>
              <a:ext uri="{FF2B5EF4-FFF2-40B4-BE49-F238E27FC236}">
                <a16:creationId xmlns:a16="http://schemas.microsoft.com/office/drawing/2014/main" id="{5E955258-9688-01BF-3309-C203149B6004}"/>
              </a:ext>
            </a:extLst>
          </p:cNvPr>
          <p:cNvSpPr>
            <a:spLocks noGrp="1"/>
          </p:cNvSpPr>
          <p:nvPr>
            <p:ph idx="1"/>
          </p:nvPr>
        </p:nvSpPr>
        <p:spPr>
          <a:xfrm>
            <a:off x="749877" y="660400"/>
            <a:ext cx="10692245" cy="3880773"/>
          </a:xfrm>
        </p:spPr>
        <p:txBody>
          <a:bodyPr>
            <a:normAutofit fontScale="25000" lnSpcReduction="20000"/>
          </a:bodyPr>
          <a:lstStyle/>
          <a:p>
            <a:pPr marL="0" indent="0">
              <a:lnSpc>
                <a:spcPct val="170000"/>
              </a:lnSpc>
              <a:buClrTx/>
              <a:buSzPct val="100000"/>
              <a:buNone/>
            </a:pPr>
            <a:r>
              <a:rPr lang="en-IN" sz="7200" b="1" dirty="0">
                <a:solidFill>
                  <a:schemeClr val="tx1"/>
                </a:solidFill>
                <a:latin typeface="Times New Roman" panose="02020603050405020304" pitchFamily="18" charset="0"/>
                <a:cs typeface="Times New Roman" panose="02020603050405020304" pitchFamily="18" charset="0"/>
              </a:rPr>
              <a:t>1. Deep Learning (GAN – Pix2Pix Framework)</a:t>
            </a:r>
          </a:p>
          <a:p>
            <a:pPr>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Uses </a:t>
            </a:r>
            <a:r>
              <a:rPr lang="en-IN" sz="7200" b="1" dirty="0">
                <a:solidFill>
                  <a:schemeClr val="tx1"/>
                </a:solidFill>
                <a:latin typeface="Times New Roman" panose="02020603050405020304" pitchFamily="18" charset="0"/>
                <a:cs typeface="Times New Roman" panose="02020603050405020304" pitchFamily="18" charset="0"/>
              </a:rPr>
              <a:t>U-Net Generator</a:t>
            </a:r>
            <a:r>
              <a:rPr lang="en-IN" sz="7200" dirty="0">
                <a:solidFill>
                  <a:schemeClr val="tx1"/>
                </a:solidFill>
                <a:latin typeface="Times New Roman" panose="02020603050405020304" pitchFamily="18" charset="0"/>
                <a:cs typeface="Times New Roman" panose="02020603050405020304" pitchFamily="18" charset="0"/>
              </a:rPr>
              <a:t> for translating 2D floor plans → heightmaps.</a:t>
            </a:r>
          </a:p>
          <a:p>
            <a:pPr>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Uses </a:t>
            </a:r>
            <a:r>
              <a:rPr lang="en-IN" sz="7200" b="1" dirty="0" err="1">
                <a:solidFill>
                  <a:schemeClr val="tx1"/>
                </a:solidFill>
                <a:latin typeface="Times New Roman" panose="02020603050405020304" pitchFamily="18" charset="0"/>
                <a:cs typeface="Times New Roman" panose="02020603050405020304" pitchFamily="18" charset="0"/>
              </a:rPr>
              <a:t>PatchGAN</a:t>
            </a:r>
            <a:r>
              <a:rPr lang="en-IN" sz="7200" b="1" dirty="0">
                <a:solidFill>
                  <a:schemeClr val="tx1"/>
                </a:solidFill>
                <a:latin typeface="Times New Roman" panose="02020603050405020304" pitchFamily="18" charset="0"/>
                <a:cs typeface="Times New Roman" panose="02020603050405020304" pitchFamily="18" charset="0"/>
              </a:rPr>
              <a:t> Discriminator</a:t>
            </a:r>
            <a:r>
              <a:rPr lang="en-IN" sz="7200" dirty="0">
                <a:solidFill>
                  <a:schemeClr val="tx1"/>
                </a:solidFill>
                <a:latin typeface="Times New Roman" panose="02020603050405020304" pitchFamily="18" charset="0"/>
                <a:cs typeface="Times New Roman" panose="02020603050405020304" pitchFamily="18" charset="0"/>
              </a:rPr>
              <a:t> to enforce local realism.</a:t>
            </a:r>
          </a:p>
          <a:p>
            <a:pPr>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Training with </a:t>
            </a:r>
            <a:r>
              <a:rPr lang="en-IN" sz="7200" b="1" dirty="0">
                <a:solidFill>
                  <a:schemeClr val="tx1"/>
                </a:solidFill>
                <a:latin typeface="Times New Roman" panose="02020603050405020304" pitchFamily="18" charset="0"/>
                <a:cs typeface="Times New Roman" panose="02020603050405020304" pitchFamily="18" charset="0"/>
              </a:rPr>
              <a:t>Adversarial Loss (MSE)</a:t>
            </a:r>
            <a:r>
              <a:rPr lang="en-IN" sz="7200" dirty="0">
                <a:solidFill>
                  <a:schemeClr val="tx1"/>
                </a:solidFill>
                <a:latin typeface="Times New Roman" panose="02020603050405020304" pitchFamily="18" charset="0"/>
                <a:cs typeface="Times New Roman" panose="02020603050405020304" pitchFamily="18" charset="0"/>
              </a:rPr>
              <a:t> + </a:t>
            </a:r>
            <a:r>
              <a:rPr lang="en-IN" sz="7200" b="1" dirty="0">
                <a:solidFill>
                  <a:schemeClr val="tx1"/>
                </a:solidFill>
                <a:latin typeface="Times New Roman" panose="02020603050405020304" pitchFamily="18" charset="0"/>
                <a:cs typeface="Times New Roman" panose="02020603050405020304" pitchFamily="18" charset="0"/>
              </a:rPr>
              <a:t>L1 Loss</a:t>
            </a:r>
            <a:r>
              <a:rPr lang="en-IN" sz="7200" dirty="0">
                <a:solidFill>
                  <a:schemeClr val="tx1"/>
                </a:solidFill>
                <a:latin typeface="Times New Roman" panose="02020603050405020304" pitchFamily="18" charset="0"/>
                <a:cs typeface="Times New Roman" panose="02020603050405020304" pitchFamily="18" charset="0"/>
              </a:rPr>
              <a:t> ensures both realism and structural accuracy.</a:t>
            </a:r>
          </a:p>
          <a:p>
            <a:pPr>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Customization:</a:t>
            </a:r>
            <a:r>
              <a:rPr lang="en-IN" sz="7200" dirty="0">
                <a:solidFill>
                  <a:schemeClr val="tx1"/>
                </a:solidFill>
                <a:latin typeface="Times New Roman" panose="02020603050405020304" pitchFamily="18" charset="0"/>
                <a:cs typeface="Times New Roman" panose="02020603050405020304" pitchFamily="18" charset="0"/>
              </a:rPr>
              <a:t> Added dropout regularization, adjustable </a:t>
            </a:r>
            <a:r>
              <a:rPr lang="el-GR" sz="7200" dirty="0">
                <a:solidFill>
                  <a:schemeClr val="tx1"/>
                </a:solidFill>
                <a:latin typeface="Times New Roman" panose="02020603050405020304" pitchFamily="18" charset="0"/>
                <a:cs typeface="Times New Roman" panose="02020603050405020304" pitchFamily="18" charset="0"/>
              </a:rPr>
              <a:t>λ (</a:t>
            </a:r>
            <a:r>
              <a:rPr lang="en-IN" sz="7200" dirty="0">
                <a:solidFill>
                  <a:schemeClr val="tx1"/>
                </a:solidFill>
                <a:latin typeface="Times New Roman" panose="02020603050405020304" pitchFamily="18" charset="0"/>
                <a:cs typeface="Times New Roman" panose="02020603050405020304" pitchFamily="18" charset="0"/>
              </a:rPr>
              <a:t>L1 weight), and proposed </a:t>
            </a:r>
            <a:r>
              <a:rPr lang="en-IN" sz="7200" dirty="0" err="1">
                <a:solidFill>
                  <a:schemeClr val="tx1"/>
                </a:solidFill>
                <a:latin typeface="Times New Roman" panose="02020603050405020304" pitchFamily="18" charset="0"/>
                <a:cs typeface="Times New Roman" panose="02020603050405020304" pitchFamily="18" charset="0"/>
              </a:rPr>
              <a:t>InstanceNorm</a:t>
            </a:r>
            <a:r>
              <a:rPr lang="en-IN" sz="7200" dirty="0">
                <a:solidFill>
                  <a:schemeClr val="tx1"/>
                </a:solidFill>
                <a:latin typeface="Times New Roman" panose="02020603050405020304" pitchFamily="18" charset="0"/>
                <a:cs typeface="Times New Roman" panose="02020603050405020304" pitchFamily="18" charset="0"/>
              </a:rPr>
              <a:t> &amp; spectral normalization for better stability.</a:t>
            </a:r>
          </a:p>
          <a:p>
            <a:pPr marL="0" indent="0">
              <a:lnSpc>
                <a:spcPct val="170000"/>
              </a:lnSpc>
              <a:buClrTx/>
              <a:buSzPct val="100000"/>
              <a:buNone/>
            </a:pPr>
            <a:r>
              <a:rPr lang="en-IN" sz="7200" b="1" dirty="0">
                <a:solidFill>
                  <a:schemeClr val="tx1"/>
                </a:solidFill>
                <a:latin typeface="Times New Roman" panose="02020603050405020304" pitchFamily="18" charset="0"/>
                <a:cs typeface="Times New Roman" panose="02020603050405020304" pitchFamily="18" charset="0"/>
              </a:rPr>
              <a:t>2. Image Processing Techniques</a:t>
            </a:r>
          </a:p>
          <a:p>
            <a:pPr>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Otsu Thresholding</a:t>
            </a:r>
            <a:r>
              <a:rPr lang="en-IN" sz="7200" dirty="0">
                <a:solidFill>
                  <a:schemeClr val="tx1"/>
                </a:solidFill>
                <a:latin typeface="Times New Roman" panose="02020603050405020304" pitchFamily="18" charset="0"/>
                <a:cs typeface="Times New Roman" panose="02020603050405020304" pitchFamily="18" charset="0"/>
              </a:rPr>
              <a:t>: Automatically separates walls from background in 2D plans.</a:t>
            </a:r>
          </a:p>
          <a:p>
            <a:pPr>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Distance Transform</a:t>
            </a:r>
            <a:r>
              <a:rPr lang="en-IN" sz="7200" dirty="0">
                <a:solidFill>
                  <a:schemeClr val="tx1"/>
                </a:solidFill>
                <a:latin typeface="Times New Roman" panose="02020603050405020304" pitchFamily="18" charset="0"/>
                <a:cs typeface="Times New Roman" panose="02020603050405020304" pitchFamily="18" charset="0"/>
              </a:rPr>
              <a:t>: Converts wall thickness into continuous heightmaps.</a:t>
            </a:r>
          </a:p>
          <a:p>
            <a:pPr>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Morphological Operations</a:t>
            </a:r>
            <a:r>
              <a:rPr lang="en-IN" sz="7200" dirty="0">
                <a:solidFill>
                  <a:schemeClr val="tx1"/>
                </a:solidFill>
                <a:latin typeface="Times New Roman" panose="02020603050405020304" pitchFamily="18" charset="0"/>
                <a:cs typeface="Times New Roman" panose="02020603050405020304" pitchFamily="18" charset="0"/>
              </a:rPr>
              <a:t>: Remove noise and connect broken wall lines.</a:t>
            </a:r>
          </a:p>
          <a:p>
            <a:pPr>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Customization:</a:t>
            </a:r>
            <a:r>
              <a:rPr lang="en-IN" sz="7200" dirty="0">
                <a:solidFill>
                  <a:schemeClr val="tx1"/>
                </a:solidFill>
                <a:latin typeface="Times New Roman" panose="02020603050405020304" pitchFamily="18" charset="0"/>
                <a:cs typeface="Times New Roman" panose="02020603050405020304" pitchFamily="18" charset="0"/>
              </a:rPr>
              <a:t> Added random flips, rotations, blur to augment dataset and proposed stronger augmentations (</a:t>
            </a:r>
            <a:r>
              <a:rPr lang="en-IN" sz="7200" dirty="0" err="1">
                <a:solidFill>
                  <a:schemeClr val="tx1"/>
                </a:solidFill>
                <a:latin typeface="Times New Roman" panose="02020603050405020304" pitchFamily="18" charset="0"/>
                <a:cs typeface="Times New Roman" panose="02020603050405020304" pitchFamily="18" charset="0"/>
              </a:rPr>
              <a:t>color</a:t>
            </a:r>
            <a:r>
              <a:rPr lang="en-IN" sz="7200" dirty="0">
                <a:solidFill>
                  <a:schemeClr val="tx1"/>
                </a:solidFill>
                <a:latin typeface="Times New Roman" panose="02020603050405020304" pitchFamily="18" charset="0"/>
                <a:cs typeface="Times New Roman" panose="02020603050405020304" pitchFamily="18" charset="0"/>
              </a:rPr>
              <a:t> jitter, affine transforms).</a:t>
            </a:r>
          </a:p>
          <a:p>
            <a:pPr marL="0" indent="0" algn="just">
              <a:lnSpc>
                <a:spcPct val="170000"/>
              </a:lnSpc>
              <a:buClr>
                <a:schemeClr val="tx1"/>
              </a:buClr>
              <a:buSzPct val="100000"/>
              <a:buNone/>
            </a:pPr>
            <a:endParaRPr lang="en-IN" dirty="0"/>
          </a:p>
        </p:txBody>
      </p:sp>
    </p:spTree>
    <p:extLst>
      <p:ext uri="{BB962C8B-B14F-4D97-AF65-F5344CB8AC3E}">
        <p14:creationId xmlns:p14="http://schemas.microsoft.com/office/powerpoint/2010/main" val="2481558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393348-5985-BA23-B2DA-1D3F8C0828B7}"/>
              </a:ext>
            </a:extLst>
          </p:cNvPr>
          <p:cNvSpPr>
            <a:spLocks noGrp="1"/>
          </p:cNvSpPr>
          <p:nvPr>
            <p:ph idx="1"/>
          </p:nvPr>
        </p:nvSpPr>
        <p:spPr>
          <a:xfrm>
            <a:off x="1062951" y="1004756"/>
            <a:ext cx="10066097" cy="3880773"/>
          </a:xfrm>
        </p:spPr>
        <p:txBody>
          <a:bodyPr>
            <a:normAutofit fontScale="25000" lnSpcReduction="20000"/>
          </a:bodyPr>
          <a:lstStyle/>
          <a:p>
            <a:pPr marL="0" indent="0" algn="just">
              <a:lnSpc>
                <a:spcPct val="170000"/>
              </a:lnSpc>
              <a:buClrTx/>
              <a:buSzPct val="100000"/>
              <a:buNone/>
            </a:pPr>
            <a:r>
              <a:rPr lang="en-IN" sz="7200" b="1" dirty="0">
                <a:solidFill>
                  <a:schemeClr val="tx1"/>
                </a:solidFill>
                <a:latin typeface="Times New Roman" panose="02020603050405020304" pitchFamily="18" charset="0"/>
                <a:cs typeface="Times New Roman" panose="02020603050405020304" pitchFamily="18" charset="0"/>
              </a:rPr>
              <a:t>3. Mesh Generation (</a:t>
            </a:r>
            <a:r>
              <a:rPr lang="en-IN" sz="7200" b="1" dirty="0" err="1">
                <a:solidFill>
                  <a:schemeClr val="tx1"/>
                </a:solidFill>
                <a:latin typeface="Times New Roman" panose="02020603050405020304" pitchFamily="18" charset="0"/>
                <a:cs typeface="Times New Roman" panose="02020603050405020304" pitchFamily="18" charset="0"/>
              </a:rPr>
              <a:t>Trimesh</a:t>
            </a:r>
            <a:r>
              <a:rPr lang="en-IN" sz="7200" b="1" dirty="0">
                <a:solidFill>
                  <a:schemeClr val="tx1"/>
                </a:solidFill>
                <a:latin typeface="Times New Roman" panose="02020603050405020304" pitchFamily="18" charset="0"/>
                <a:cs typeface="Times New Roman" panose="02020603050405020304" pitchFamily="18" charset="0"/>
              </a:rPr>
              <a:t> + Voxelization)</a:t>
            </a:r>
          </a:p>
          <a:p>
            <a:pPr algn="just">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Converts predicted heightmaps into </a:t>
            </a:r>
            <a:r>
              <a:rPr lang="en-IN" sz="7200" b="1" dirty="0">
                <a:solidFill>
                  <a:schemeClr val="tx1"/>
                </a:solidFill>
                <a:latin typeface="Times New Roman" panose="02020603050405020304" pitchFamily="18" charset="0"/>
                <a:cs typeface="Times New Roman" panose="02020603050405020304" pitchFamily="18" charset="0"/>
              </a:rPr>
              <a:t>3D voxel grids</a:t>
            </a:r>
            <a:r>
              <a:rPr lang="en-IN" sz="7200" dirty="0">
                <a:solidFill>
                  <a:schemeClr val="tx1"/>
                </a:solidFill>
                <a:latin typeface="Times New Roman" panose="02020603050405020304" pitchFamily="18" charset="0"/>
                <a:cs typeface="Times New Roman" panose="02020603050405020304" pitchFamily="18" charset="0"/>
              </a:rPr>
              <a:t>.</a:t>
            </a:r>
          </a:p>
          <a:p>
            <a:pPr algn="just">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Uses </a:t>
            </a:r>
            <a:r>
              <a:rPr lang="en-IN" sz="7200" dirty="0" err="1">
                <a:solidFill>
                  <a:schemeClr val="tx1"/>
                </a:solidFill>
                <a:latin typeface="Times New Roman" panose="02020603050405020304" pitchFamily="18" charset="0"/>
                <a:cs typeface="Times New Roman" panose="02020603050405020304" pitchFamily="18" charset="0"/>
              </a:rPr>
              <a:t>trimesh.voxel.VoxelGrid</a:t>
            </a:r>
            <a:r>
              <a:rPr lang="en-IN" sz="7200" dirty="0">
                <a:solidFill>
                  <a:schemeClr val="tx1"/>
                </a:solidFill>
                <a:latin typeface="Times New Roman" panose="02020603050405020304" pitchFamily="18" charset="0"/>
                <a:cs typeface="Times New Roman" panose="02020603050405020304" pitchFamily="18" charset="0"/>
              </a:rPr>
              <a:t> to export .</a:t>
            </a:r>
            <a:r>
              <a:rPr lang="en-IN" sz="7200" dirty="0" err="1">
                <a:solidFill>
                  <a:schemeClr val="tx1"/>
                </a:solidFill>
                <a:latin typeface="Times New Roman" panose="02020603050405020304" pitchFamily="18" charset="0"/>
                <a:cs typeface="Times New Roman" panose="02020603050405020304" pitchFamily="18" charset="0"/>
              </a:rPr>
              <a:t>glb</a:t>
            </a:r>
            <a:r>
              <a:rPr lang="en-IN" sz="7200" dirty="0">
                <a:solidFill>
                  <a:schemeClr val="tx1"/>
                </a:solidFill>
                <a:latin typeface="Times New Roman" panose="02020603050405020304" pitchFamily="18" charset="0"/>
                <a:cs typeface="Times New Roman" panose="02020603050405020304" pitchFamily="18" charset="0"/>
              </a:rPr>
              <a:t>/.ply meshes.</a:t>
            </a:r>
          </a:p>
          <a:p>
            <a:pPr algn="just">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Customization:</a:t>
            </a:r>
            <a:r>
              <a:rPr lang="en-IN" sz="7200" dirty="0">
                <a:solidFill>
                  <a:schemeClr val="tx1"/>
                </a:solidFill>
                <a:latin typeface="Times New Roman" panose="02020603050405020304" pitchFamily="18" charset="0"/>
                <a:cs typeface="Times New Roman" panose="02020603050405020304" pitchFamily="18" charset="0"/>
              </a:rPr>
              <a:t> Proposed </a:t>
            </a:r>
            <a:r>
              <a:rPr lang="en-IN" sz="7200" b="1" dirty="0">
                <a:solidFill>
                  <a:schemeClr val="tx1"/>
                </a:solidFill>
                <a:latin typeface="Times New Roman" panose="02020603050405020304" pitchFamily="18" charset="0"/>
                <a:cs typeface="Times New Roman" panose="02020603050405020304" pitchFamily="18" charset="0"/>
              </a:rPr>
              <a:t>Marching Cubes algorithm</a:t>
            </a:r>
            <a:r>
              <a:rPr lang="en-IN" sz="7200" dirty="0">
                <a:solidFill>
                  <a:schemeClr val="tx1"/>
                </a:solidFill>
                <a:latin typeface="Times New Roman" panose="02020603050405020304" pitchFamily="18" charset="0"/>
                <a:cs typeface="Times New Roman" panose="02020603050405020304" pitchFamily="18" charset="0"/>
              </a:rPr>
              <a:t> and </a:t>
            </a:r>
            <a:r>
              <a:rPr lang="en-IN" sz="7200" b="1" dirty="0">
                <a:solidFill>
                  <a:schemeClr val="tx1"/>
                </a:solidFill>
                <a:latin typeface="Times New Roman" panose="02020603050405020304" pitchFamily="18" charset="0"/>
                <a:cs typeface="Times New Roman" panose="02020603050405020304" pitchFamily="18" charset="0"/>
              </a:rPr>
              <a:t>Laplacian smoothing</a:t>
            </a:r>
            <a:r>
              <a:rPr lang="en-IN" sz="7200" dirty="0">
                <a:solidFill>
                  <a:schemeClr val="tx1"/>
                </a:solidFill>
                <a:latin typeface="Times New Roman" panose="02020603050405020304" pitchFamily="18" charset="0"/>
                <a:cs typeface="Times New Roman" panose="02020603050405020304" pitchFamily="18" charset="0"/>
              </a:rPr>
              <a:t> for smoother meshes, and semantic-driven extrusion for walls/rooms.</a:t>
            </a:r>
          </a:p>
          <a:p>
            <a:pPr marL="0" indent="0" algn="just">
              <a:lnSpc>
                <a:spcPct val="170000"/>
              </a:lnSpc>
              <a:buClrTx/>
              <a:buSzPct val="100000"/>
              <a:buNone/>
            </a:pPr>
            <a:r>
              <a:rPr lang="en-IN" sz="7200" b="1" dirty="0">
                <a:solidFill>
                  <a:schemeClr val="tx1"/>
                </a:solidFill>
                <a:latin typeface="Times New Roman" panose="02020603050405020304" pitchFamily="18" charset="0"/>
                <a:cs typeface="Times New Roman" panose="02020603050405020304" pitchFamily="18" charset="0"/>
              </a:rPr>
              <a:t>4. Visualization &amp; VR</a:t>
            </a:r>
          </a:p>
          <a:p>
            <a:pPr algn="just">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Current: </a:t>
            </a:r>
            <a:r>
              <a:rPr lang="en-IN" sz="7200" b="1" dirty="0" err="1">
                <a:solidFill>
                  <a:schemeClr val="tx1"/>
                </a:solidFill>
                <a:latin typeface="Times New Roman" panose="02020603050405020304" pitchFamily="18" charset="0"/>
                <a:cs typeface="Times New Roman" panose="02020603050405020304" pitchFamily="18" charset="0"/>
              </a:rPr>
              <a:t>Plotly</a:t>
            </a:r>
            <a:r>
              <a:rPr lang="en-IN" sz="7200" b="1" dirty="0">
                <a:solidFill>
                  <a:schemeClr val="tx1"/>
                </a:solidFill>
                <a:latin typeface="Times New Roman" panose="02020603050405020304" pitchFamily="18" charset="0"/>
                <a:cs typeface="Times New Roman" panose="02020603050405020304" pitchFamily="18" charset="0"/>
              </a:rPr>
              <a:t> Mesh3d</a:t>
            </a:r>
            <a:r>
              <a:rPr lang="en-IN" sz="7200" dirty="0">
                <a:solidFill>
                  <a:schemeClr val="tx1"/>
                </a:solidFill>
                <a:latin typeface="Times New Roman" panose="02020603050405020304" pitchFamily="18" charset="0"/>
                <a:cs typeface="Times New Roman" panose="02020603050405020304" pitchFamily="18" charset="0"/>
              </a:rPr>
              <a:t> for interactive HTML viewers.</a:t>
            </a:r>
          </a:p>
          <a:p>
            <a:pPr algn="just">
              <a:lnSpc>
                <a:spcPct val="170000"/>
              </a:lnSpc>
              <a:buClrTx/>
              <a:buSzPct val="100000"/>
              <a:buFont typeface="Arial" panose="020B0604020202020204" pitchFamily="34" charset="0"/>
              <a:buChar char="•"/>
            </a:pPr>
            <a:r>
              <a:rPr lang="en-IN" sz="7200" dirty="0">
                <a:solidFill>
                  <a:schemeClr val="tx1"/>
                </a:solidFill>
                <a:latin typeface="Times New Roman" panose="02020603050405020304" pitchFamily="18" charset="0"/>
                <a:cs typeface="Times New Roman" panose="02020603050405020304" pitchFamily="18" charset="0"/>
              </a:rPr>
              <a:t>Proposed: </a:t>
            </a:r>
            <a:r>
              <a:rPr lang="en-IN" sz="7200" b="1" dirty="0">
                <a:solidFill>
                  <a:schemeClr val="tx1"/>
                </a:solidFill>
                <a:latin typeface="Times New Roman" panose="02020603050405020304" pitchFamily="18" charset="0"/>
                <a:cs typeface="Times New Roman" panose="02020603050405020304" pitchFamily="18" charset="0"/>
              </a:rPr>
              <a:t>Three.js / A-Frame with </a:t>
            </a:r>
            <a:r>
              <a:rPr lang="en-IN" sz="7200" b="1" dirty="0" err="1">
                <a:solidFill>
                  <a:schemeClr val="tx1"/>
                </a:solidFill>
                <a:latin typeface="Times New Roman" panose="02020603050405020304" pitchFamily="18" charset="0"/>
                <a:cs typeface="Times New Roman" panose="02020603050405020304" pitchFamily="18" charset="0"/>
              </a:rPr>
              <a:t>WebXR</a:t>
            </a:r>
            <a:r>
              <a:rPr lang="en-IN" sz="7200" dirty="0">
                <a:solidFill>
                  <a:schemeClr val="tx1"/>
                </a:solidFill>
                <a:latin typeface="Times New Roman" panose="02020603050405020304" pitchFamily="18" charset="0"/>
                <a:cs typeface="Times New Roman" panose="02020603050405020304" pitchFamily="18" charset="0"/>
              </a:rPr>
              <a:t> for immersive VR walkthroughs.</a:t>
            </a:r>
          </a:p>
          <a:p>
            <a:pPr algn="just">
              <a:lnSpc>
                <a:spcPct val="170000"/>
              </a:lnSpc>
              <a:buClrTx/>
              <a:buSzPct val="100000"/>
              <a:buFont typeface="Arial" panose="020B0604020202020204" pitchFamily="34" charset="0"/>
              <a:buChar char="•"/>
            </a:pPr>
            <a:r>
              <a:rPr lang="en-IN" sz="7200" b="1" dirty="0">
                <a:solidFill>
                  <a:schemeClr val="tx1"/>
                </a:solidFill>
                <a:latin typeface="Times New Roman" panose="02020603050405020304" pitchFamily="18" charset="0"/>
                <a:cs typeface="Times New Roman" panose="02020603050405020304" pitchFamily="18" charset="0"/>
              </a:rPr>
              <a:t>Customization:</a:t>
            </a:r>
            <a:r>
              <a:rPr lang="en-IN" sz="7200" dirty="0">
                <a:solidFill>
                  <a:schemeClr val="tx1"/>
                </a:solidFill>
                <a:latin typeface="Times New Roman" panose="02020603050405020304" pitchFamily="18" charset="0"/>
                <a:cs typeface="Times New Roman" panose="02020603050405020304" pitchFamily="18" charset="0"/>
              </a:rPr>
              <a:t> Add texture mapping, mesh simplification, and compression for faster VR rendering.</a:t>
            </a:r>
          </a:p>
          <a:p>
            <a:pPr marL="0" indent="0" algn="just">
              <a:lnSpc>
                <a:spcPct val="170000"/>
              </a:lnSpc>
              <a:buClrTx/>
              <a:buSzPct val="100000"/>
              <a:buNone/>
            </a:pPr>
            <a:endParaRPr lang="en-IN" sz="7200" dirty="0">
              <a:solidFill>
                <a:schemeClr val="tx1"/>
              </a:solidFill>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13658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61C0F-A1B9-D35C-AF41-475A9202FD88}"/>
              </a:ext>
            </a:extLst>
          </p:cNvPr>
          <p:cNvSpPr>
            <a:spLocks noGrp="1"/>
          </p:cNvSpPr>
          <p:nvPr>
            <p:ph type="title"/>
          </p:nvPr>
        </p:nvSpPr>
        <p:spPr>
          <a:xfrm>
            <a:off x="1797666" y="0"/>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a:t>
            </a:r>
          </a:p>
        </p:txBody>
      </p:sp>
      <p:pic>
        <p:nvPicPr>
          <p:cNvPr id="5" name="Content Placeholder 4" descr="A floor plan of a house&#10;&#10;AI-generated content may be incorrect.">
            <a:extLst>
              <a:ext uri="{FF2B5EF4-FFF2-40B4-BE49-F238E27FC236}">
                <a16:creationId xmlns:a16="http://schemas.microsoft.com/office/drawing/2014/main" id="{BC8E6A89-F821-8CAD-4E38-2482499F30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3186" y="660400"/>
            <a:ext cx="8765628" cy="5961555"/>
          </a:xfrm>
        </p:spPr>
      </p:pic>
      <p:sp>
        <p:nvSpPr>
          <p:cNvPr id="6" name="TextBox 5">
            <a:extLst>
              <a:ext uri="{FF2B5EF4-FFF2-40B4-BE49-F238E27FC236}">
                <a16:creationId xmlns:a16="http://schemas.microsoft.com/office/drawing/2014/main" id="{DC38524C-AF24-B9A1-8280-77D9FFD33CA8}"/>
              </a:ext>
            </a:extLst>
          </p:cNvPr>
          <p:cNvSpPr txBox="1"/>
          <p:nvPr/>
        </p:nvSpPr>
        <p:spPr>
          <a:xfrm>
            <a:off x="7083972" y="6074979"/>
            <a:ext cx="2785242" cy="369332"/>
          </a:xfrm>
          <a:prstGeom prst="rect">
            <a:avLst/>
          </a:prstGeom>
          <a:noFill/>
        </p:spPr>
        <p:txBody>
          <a:bodyPr wrap="square" rtlCol="0">
            <a:spAutoFit/>
          </a:bodyPr>
          <a:lstStyle/>
          <a:p>
            <a:pPr algn="ctr"/>
            <a:r>
              <a:rPr lang="en-IN" b="1" i="1" dirty="0">
                <a:latin typeface="Times New Roman" panose="02020603050405020304" pitchFamily="18" charset="0"/>
                <a:cs typeface="Times New Roman" panose="02020603050405020304" pitchFamily="18" charset="0"/>
              </a:rPr>
              <a:t>Fig.2. Floor Plan</a:t>
            </a:r>
          </a:p>
        </p:txBody>
      </p:sp>
    </p:spTree>
    <p:extLst>
      <p:ext uri="{BB962C8B-B14F-4D97-AF65-F5344CB8AC3E}">
        <p14:creationId xmlns:p14="http://schemas.microsoft.com/office/powerpoint/2010/main" val="1647381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B276-768D-248E-A93A-F9E02EE71FC1}"/>
              </a:ext>
            </a:extLst>
          </p:cNvPr>
          <p:cNvSpPr>
            <a:spLocks noGrp="1"/>
          </p:cNvSpPr>
          <p:nvPr>
            <p:ph type="title"/>
          </p:nvPr>
        </p:nvSpPr>
        <p:spPr>
          <a:xfrm>
            <a:off x="1797666" y="107015"/>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a:t>
            </a:r>
          </a:p>
        </p:txBody>
      </p:sp>
      <p:pic>
        <p:nvPicPr>
          <p:cNvPr id="5" name="Content Placeholder 4" descr="A blueprint of a house&#10;&#10;AI-generated content may be incorrect.">
            <a:extLst>
              <a:ext uri="{FF2B5EF4-FFF2-40B4-BE49-F238E27FC236}">
                <a16:creationId xmlns:a16="http://schemas.microsoft.com/office/drawing/2014/main" id="{2A028B1D-DD00-EAA5-7E23-5AA793A524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3208" y="1040246"/>
            <a:ext cx="5665584" cy="5052848"/>
          </a:xfrm>
        </p:spPr>
      </p:pic>
      <p:sp>
        <p:nvSpPr>
          <p:cNvPr id="6" name="TextBox 5">
            <a:extLst>
              <a:ext uri="{FF2B5EF4-FFF2-40B4-BE49-F238E27FC236}">
                <a16:creationId xmlns:a16="http://schemas.microsoft.com/office/drawing/2014/main" id="{B21C4128-C202-403C-5F70-A790059984AA}"/>
              </a:ext>
            </a:extLst>
          </p:cNvPr>
          <p:cNvSpPr txBox="1"/>
          <p:nvPr/>
        </p:nvSpPr>
        <p:spPr>
          <a:xfrm>
            <a:off x="4998027" y="6244936"/>
            <a:ext cx="2504209" cy="369332"/>
          </a:xfrm>
          <a:prstGeom prst="rect">
            <a:avLst/>
          </a:prstGeom>
          <a:noFill/>
        </p:spPr>
        <p:txBody>
          <a:bodyPr wrap="square" rtlCol="0">
            <a:spAutoFit/>
          </a:bodyPr>
          <a:lstStyle/>
          <a:p>
            <a:pPr algn="ctr"/>
            <a:r>
              <a:rPr lang="en-IN" b="1" i="1" dirty="0">
                <a:latin typeface="Times New Roman" panose="02020603050405020304" pitchFamily="18" charset="0"/>
                <a:cs typeface="Times New Roman" panose="02020603050405020304" pitchFamily="18" charset="0"/>
              </a:rPr>
              <a:t>Fig.3. Mesh</a:t>
            </a:r>
          </a:p>
        </p:txBody>
      </p:sp>
    </p:spTree>
    <p:extLst>
      <p:ext uri="{BB962C8B-B14F-4D97-AF65-F5344CB8AC3E}">
        <p14:creationId xmlns:p14="http://schemas.microsoft.com/office/powerpoint/2010/main" val="293434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F46D0-C954-30F1-E28C-0DC2770A9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E74EB-5197-4A40-0003-C1DBE778D890}"/>
              </a:ext>
            </a:extLst>
          </p:cNvPr>
          <p:cNvSpPr>
            <a:spLocks noGrp="1"/>
          </p:cNvSpPr>
          <p:nvPr>
            <p:ph type="title"/>
          </p:nvPr>
        </p:nvSpPr>
        <p:spPr>
          <a:xfrm>
            <a:off x="1797666" y="107015"/>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a:t>
            </a:r>
          </a:p>
        </p:txBody>
      </p:sp>
      <p:pic>
        <p:nvPicPr>
          <p:cNvPr id="10" name="Picture 9">
            <a:extLst>
              <a:ext uri="{FF2B5EF4-FFF2-40B4-BE49-F238E27FC236}">
                <a16:creationId xmlns:a16="http://schemas.microsoft.com/office/drawing/2014/main" id="{E6F81033-374C-86F9-AC36-CCB32289761F}"/>
              </a:ext>
            </a:extLst>
          </p:cNvPr>
          <p:cNvPicPr>
            <a:picLocks noChangeAspect="1"/>
          </p:cNvPicPr>
          <p:nvPr/>
        </p:nvPicPr>
        <p:blipFill>
          <a:blip r:embed="rId2"/>
          <a:stretch>
            <a:fillRect/>
          </a:stretch>
        </p:blipFill>
        <p:spPr>
          <a:xfrm>
            <a:off x="1053549" y="852874"/>
            <a:ext cx="7678414" cy="5617500"/>
          </a:xfrm>
          <a:prstGeom prst="rect">
            <a:avLst/>
          </a:prstGeom>
        </p:spPr>
      </p:pic>
      <p:sp>
        <p:nvSpPr>
          <p:cNvPr id="11" name="TextBox 10">
            <a:extLst>
              <a:ext uri="{FF2B5EF4-FFF2-40B4-BE49-F238E27FC236}">
                <a16:creationId xmlns:a16="http://schemas.microsoft.com/office/drawing/2014/main" id="{8DF678DA-B78F-07C1-9E1C-466372095128}"/>
              </a:ext>
            </a:extLst>
          </p:cNvPr>
          <p:cNvSpPr txBox="1"/>
          <p:nvPr/>
        </p:nvSpPr>
        <p:spPr>
          <a:xfrm>
            <a:off x="9160565" y="5526157"/>
            <a:ext cx="2832652" cy="646331"/>
          </a:xfrm>
          <a:prstGeom prst="rect">
            <a:avLst/>
          </a:prstGeom>
          <a:noFill/>
        </p:spPr>
        <p:txBody>
          <a:bodyPr wrap="square" rtlCol="0">
            <a:spAutoFit/>
          </a:bodyPr>
          <a:lstStyle/>
          <a:p>
            <a:r>
              <a:rPr lang="en-IN" b="1" i="1" dirty="0">
                <a:latin typeface="Times New Roman" panose="02020603050405020304" pitchFamily="18" charset="0"/>
                <a:cs typeface="Times New Roman" panose="02020603050405020304" pitchFamily="18" charset="0"/>
              </a:rPr>
              <a:t>Fig.4. 3D Model (</a:t>
            </a:r>
            <a:r>
              <a:rPr lang="en-IN" b="1" i="1" dirty="0" err="1">
                <a:latin typeface="Times New Roman" panose="02020603050405020304" pitchFamily="18" charset="0"/>
                <a:cs typeface="Times New Roman" panose="02020603050405020304" pitchFamily="18" charset="0"/>
              </a:rPr>
              <a:t>Glb</a:t>
            </a:r>
            <a:r>
              <a:rPr lang="en-IN" b="1" i="1" dirty="0">
                <a:latin typeface="Times New Roman" panose="02020603050405020304" pitchFamily="18" charset="0"/>
                <a:cs typeface="Times New Roman" panose="02020603050405020304" pitchFamily="18" charset="0"/>
              </a:rPr>
              <a:t> Format)</a:t>
            </a:r>
          </a:p>
        </p:txBody>
      </p:sp>
    </p:spTree>
    <p:extLst>
      <p:ext uri="{BB962C8B-B14F-4D97-AF65-F5344CB8AC3E}">
        <p14:creationId xmlns:p14="http://schemas.microsoft.com/office/powerpoint/2010/main" val="3897736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965FF-5D00-729A-3AEB-C0266E1216F2}"/>
              </a:ext>
            </a:extLst>
          </p:cNvPr>
          <p:cNvSpPr>
            <a:spLocks noGrp="1"/>
          </p:cNvSpPr>
          <p:nvPr>
            <p:ph type="title"/>
          </p:nvPr>
        </p:nvSpPr>
        <p:spPr>
          <a:xfrm>
            <a:off x="1797666" y="156238"/>
            <a:ext cx="8596668" cy="791413"/>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Sustainable Development Goals (SDGs)</a:t>
            </a:r>
          </a:p>
        </p:txBody>
      </p:sp>
      <p:sp>
        <p:nvSpPr>
          <p:cNvPr id="3" name="Content Placeholder 2">
            <a:extLst>
              <a:ext uri="{FF2B5EF4-FFF2-40B4-BE49-F238E27FC236}">
                <a16:creationId xmlns:a16="http://schemas.microsoft.com/office/drawing/2014/main" id="{652B6F94-00D2-1C7B-1DD6-001A88FF7419}"/>
              </a:ext>
            </a:extLst>
          </p:cNvPr>
          <p:cNvSpPr>
            <a:spLocks noGrp="1"/>
          </p:cNvSpPr>
          <p:nvPr>
            <p:ph idx="1"/>
          </p:nvPr>
        </p:nvSpPr>
        <p:spPr>
          <a:xfrm>
            <a:off x="738447" y="1506308"/>
            <a:ext cx="10715105" cy="5195454"/>
          </a:xfrm>
        </p:spPr>
        <p:txBody>
          <a:bodyPr>
            <a:normAutofit/>
          </a:bodyPr>
          <a:lstStyle/>
          <a:p>
            <a:pPr marL="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1. SDG 9 – Industry, Innovation, and Infrastructure: </a:t>
            </a:r>
            <a:r>
              <a:rPr lang="en-US" dirty="0">
                <a:solidFill>
                  <a:schemeClr val="tx1"/>
                </a:solidFill>
                <a:latin typeface="Times New Roman" panose="02020603050405020304" pitchFamily="18" charset="0"/>
                <a:cs typeface="Times New Roman" panose="02020603050405020304" pitchFamily="18" charset="0"/>
              </a:rPr>
              <a:t>Promotes AI-driven innovation in architecture and real estate visualization, enhancing design efficiency and accuracy.</a:t>
            </a:r>
          </a:p>
          <a:p>
            <a:pPr marL="0" indent="0" algn="just">
              <a:lnSpc>
                <a:spcPct val="150000"/>
              </a:lnSpc>
              <a:buNone/>
            </a:pPr>
            <a:r>
              <a:rPr lang="en-IN" b="1" dirty="0">
                <a:solidFill>
                  <a:schemeClr val="tx1"/>
                </a:solidFill>
                <a:latin typeface="Times New Roman" panose="02020603050405020304" pitchFamily="18" charset="0"/>
                <a:cs typeface="Times New Roman" panose="02020603050405020304" pitchFamily="18" charset="0"/>
              </a:rPr>
              <a:t>2. </a:t>
            </a:r>
            <a:r>
              <a:rPr lang="en-US" b="1" dirty="0">
                <a:solidFill>
                  <a:schemeClr val="tx1"/>
                </a:solidFill>
                <a:latin typeface="Times New Roman" panose="02020603050405020304" pitchFamily="18" charset="0"/>
                <a:cs typeface="Times New Roman" panose="02020603050405020304" pitchFamily="18" charset="0"/>
              </a:rPr>
              <a:t>SDG 11 – Sustainable Cities and Communities: </a:t>
            </a:r>
            <a:r>
              <a:rPr lang="en-US" dirty="0">
                <a:solidFill>
                  <a:schemeClr val="tx1"/>
                </a:solidFill>
                <a:latin typeface="Times New Roman" panose="02020603050405020304" pitchFamily="18" charset="0"/>
                <a:cs typeface="Times New Roman" panose="02020603050405020304" pitchFamily="18" charset="0"/>
              </a:rPr>
              <a:t>Enables smart urban planning through VR simulations, reducing waste and improving sustainable housing design.</a:t>
            </a:r>
          </a:p>
          <a:p>
            <a:pPr marL="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3. SDG 4 – Quality Education: </a:t>
            </a:r>
            <a:r>
              <a:rPr lang="en-US" dirty="0">
                <a:solidFill>
                  <a:schemeClr val="tx1"/>
                </a:solidFill>
                <a:latin typeface="Times New Roman" panose="02020603050405020304" pitchFamily="18" charset="0"/>
                <a:cs typeface="Times New Roman" panose="02020603050405020304" pitchFamily="18" charset="0"/>
              </a:rPr>
              <a:t>Serves as an interactive VR learning tool for students to understand spatial design and AI-driven modeling.</a:t>
            </a:r>
          </a:p>
          <a:p>
            <a:pPr marL="0"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4. SDG 12 – </a:t>
            </a:r>
            <a:r>
              <a:rPr lang="en-US" dirty="0">
                <a:solidFill>
                  <a:schemeClr val="tx1"/>
                </a:solidFill>
                <a:latin typeface="Times New Roman" panose="02020603050405020304" pitchFamily="18" charset="0"/>
                <a:cs typeface="Times New Roman" panose="02020603050405020304" pitchFamily="18" charset="0"/>
              </a:rPr>
              <a:t>Responsible Consumption and </a:t>
            </a:r>
            <a:r>
              <a:rPr lang="en-US" dirty="0" err="1">
                <a:solidFill>
                  <a:schemeClr val="tx1"/>
                </a:solidFill>
                <a:latin typeface="Times New Roman" panose="02020603050405020304" pitchFamily="18" charset="0"/>
                <a:cs typeface="Times New Roman" panose="02020603050405020304" pitchFamily="18" charset="0"/>
              </a:rPr>
              <a:t>Production:Encourages</a:t>
            </a:r>
            <a:r>
              <a:rPr lang="en-US" dirty="0">
                <a:solidFill>
                  <a:schemeClr val="tx1"/>
                </a:solidFill>
                <a:latin typeface="Times New Roman" panose="02020603050405020304" pitchFamily="18" charset="0"/>
                <a:cs typeface="Times New Roman" panose="02020603050405020304" pitchFamily="18" charset="0"/>
              </a:rPr>
              <a:t> virtual prototyping to minimize material use and promote resource-efficient construction planning.</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3961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1E38D-5860-121D-B928-82C751F3E4FD}"/>
              </a:ext>
            </a:extLst>
          </p:cNvPr>
          <p:cNvSpPr>
            <a:spLocks noGrp="1"/>
          </p:cNvSpPr>
          <p:nvPr>
            <p:ph type="title"/>
          </p:nvPr>
        </p:nvSpPr>
        <p:spPr>
          <a:xfrm>
            <a:off x="1797665" y="207818"/>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F007447-A701-DCD8-D60E-76A5959D6973}"/>
              </a:ext>
            </a:extLst>
          </p:cNvPr>
          <p:cNvSpPr>
            <a:spLocks noGrp="1"/>
          </p:cNvSpPr>
          <p:nvPr>
            <p:ph idx="1"/>
          </p:nvPr>
        </p:nvSpPr>
        <p:spPr>
          <a:xfrm>
            <a:off x="745644" y="1049482"/>
            <a:ext cx="10700711" cy="5158135"/>
          </a:xfrm>
        </p:spPr>
        <p:txBody>
          <a:bodyPr>
            <a:normAutofit fontScale="92500" lnSpcReduction="10000"/>
          </a:bodyPr>
          <a:lstStyle/>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[1] Reddy, V. K. G. N., Prajwal, V., Reddy, V. G. N., Srushti, G. S., &amp; Nirmala, S. (2024).       </a:t>
            </a:r>
            <a:r>
              <a:rPr lang="en-IN" i="1" dirty="0">
                <a:solidFill>
                  <a:schemeClr val="tx1"/>
                </a:solidFill>
                <a:latin typeface="Times New Roman" panose="02020603050405020304" pitchFamily="18" charset="0"/>
                <a:cs typeface="Times New Roman" panose="02020603050405020304" pitchFamily="18" charset="0"/>
              </a:rPr>
              <a:t>Plan–MORPH: Conversion of 2D Floorplans to 3D Models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International Journal of Enhanced Research in Science, Technology &amp; Engineering, 13</a:t>
            </a:r>
            <a:r>
              <a:rPr lang="en-IN" dirty="0">
                <a:solidFill>
                  <a:schemeClr val="tx1"/>
                </a:solidFill>
                <a:latin typeface="Times New Roman" panose="02020603050405020304" pitchFamily="18" charset="0"/>
                <a:cs typeface="Times New Roman" panose="02020603050405020304" pitchFamily="18" charset="0"/>
              </a:rPr>
              <a:t>(12), 37–42.</a:t>
            </a:r>
          </a:p>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[2] Buehler, M. J. (2022). </a:t>
            </a:r>
            <a:r>
              <a:rPr lang="en-IN" i="1" dirty="0">
                <a:solidFill>
                  <a:schemeClr val="tx1"/>
                </a:solidFill>
                <a:latin typeface="Times New Roman" panose="02020603050405020304" pitchFamily="18" charset="0"/>
                <a:cs typeface="Times New Roman" panose="02020603050405020304" pitchFamily="18" charset="0"/>
              </a:rPr>
              <a:t>Generating 3D </a:t>
            </a:r>
            <a:r>
              <a:rPr lang="en-IN" i="1" dirty="0" err="1">
                <a:solidFill>
                  <a:schemeClr val="tx1"/>
                </a:solidFill>
                <a:latin typeface="Times New Roman" panose="02020603050405020304" pitchFamily="18" charset="0"/>
                <a:cs typeface="Times New Roman" panose="02020603050405020304" pitchFamily="18" charset="0"/>
              </a:rPr>
              <a:t>architectured</a:t>
            </a:r>
            <a:r>
              <a:rPr lang="en-IN" i="1" dirty="0">
                <a:solidFill>
                  <a:schemeClr val="tx1"/>
                </a:solidFill>
                <a:latin typeface="Times New Roman" panose="02020603050405020304" pitchFamily="18" charset="0"/>
                <a:cs typeface="Times New Roman" panose="02020603050405020304" pitchFamily="18" charset="0"/>
              </a:rPr>
              <a:t> nature-inspired materials and granular media using diffusion models based on language cues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Oxford Open Materials Science, 2</a:t>
            </a:r>
            <a:r>
              <a:rPr lang="en-IN" dirty="0">
                <a:solidFill>
                  <a:schemeClr val="tx1"/>
                </a:solidFill>
                <a:latin typeface="Times New Roman" panose="02020603050405020304" pitchFamily="18" charset="0"/>
                <a:cs typeface="Times New Roman" panose="02020603050405020304" pitchFamily="18" charset="0"/>
              </a:rPr>
              <a:t>(1), itac010.</a:t>
            </a:r>
          </a:p>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[3] Park, S., &amp; Kim, H. (2021). </a:t>
            </a:r>
            <a:r>
              <a:rPr lang="en-IN" i="1" dirty="0">
                <a:solidFill>
                  <a:schemeClr val="tx1"/>
                </a:solidFill>
                <a:latin typeface="Times New Roman" panose="02020603050405020304" pitchFamily="18" charset="0"/>
                <a:cs typeface="Times New Roman" panose="02020603050405020304" pitchFamily="18" charset="0"/>
              </a:rPr>
              <a:t>3DPlanNet: Generating 3D Models from 2D Floor Plan Images Using Ensemble Methods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Electronics, 10</a:t>
            </a:r>
            <a:r>
              <a:rPr lang="en-IN" dirty="0">
                <a:solidFill>
                  <a:schemeClr val="tx1"/>
                </a:solidFill>
                <a:latin typeface="Times New Roman" panose="02020603050405020304" pitchFamily="18" charset="0"/>
                <a:cs typeface="Times New Roman" panose="02020603050405020304" pitchFamily="18" charset="0"/>
              </a:rPr>
              <a:t>(22), 2729.</a:t>
            </a:r>
          </a:p>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[4] </a:t>
            </a:r>
            <a:r>
              <a:rPr lang="en-IN" dirty="0" err="1">
                <a:solidFill>
                  <a:schemeClr val="tx1"/>
                </a:solidFill>
                <a:latin typeface="Times New Roman" panose="02020603050405020304" pitchFamily="18" charset="0"/>
                <a:cs typeface="Times New Roman" panose="02020603050405020304" pitchFamily="18" charset="0"/>
              </a:rPr>
              <a:t>Madhawa</a:t>
            </a:r>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Vidanapathirana</a:t>
            </a:r>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Qirui</a:t>
            </a:r>
            <a:r>
              <a:rPr lang="en-IN" dirty="0">
                <a:solidFill>
                  <a:schemeClr val="tx1"/>
                </a:solidFill>
                <a:latin typeface="Times New Roman" panose="02020603050405020304" pitchFamily="18" charset="0"/>
                <a:cs typeface="Times New Roman" panose="02020603050405020304" pitchFamily="18" charset="0"/>
              </a:rPr>
              <a:t> Wu, Yasutaka Furukawa, Angel X., Chang Manolis Savva, Simon Fraser University (2021). </a:t>
            </a:r>
            <a:r>
              <a:rPr lang="en-IN" i="1" dirty="0">
                <a:solidFill>
                  <a:schemeClr val="tx1"/>
                </a:solidFill>
                <a:latin typeface="Times New Roman" panose="02020603050405020304" pitchFamily="18" charset="0"/>
                <a:cs typeface="Times New Roman" panose="02020603050405020304" pitchFamily="18" charset="0"/>
              </a:rPr>
              <a:t>Plan2Scene: Converting Floorplans to 3D Scenes.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IEEE/CVF Conference on Computer Vision and Pattern Recognition (CVPR)</a:t>
            </a:r>
            <a:r>
              <a:rPr lang="en-IN" dirty="0">
                <a:solidFill>
                  <a:schemeClr val="tx1"/>
                </a:solidFill>
                <a:latin typeface="Times New Roman" panose="02020603050405020304" pitchFamily="18" charset="0"/>
                <a:cs typeface="Times New Roman" panose="02020603050405020304" pitchFamily="18" charset="0"/>
              </a:rPr>
              <a:t>. </a:t>
            </a:r>
          </a:p>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[5] Juan, Y.-K., Chen, H.-H., &amp; Chi, H.-Y. (2018). </a:t>
            </a:r>
            <a:r>
              <a:rPr lang="en-IN" i="1" dirty="0">
                <a:solidFill>
                  <a:schemeClr val="tx1"/>
                </a:solidFill>
                <a:latin typeface="Times New Roman" panose="02020603050405020304" pitchFamily="18" charset="0"/>
                <a:cs typeface="Times New Roman" panose="02020603050405020304" pitchFamily="18" charset="0"/>
              </a:rPr>
              <a:t>Developing and Evaluating a Virtual Reality-Based Navigation System for Pre-Sale Housing Sales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Applied Sciences, 8</a:t>
            </a:r>
            <a:r>
              <a:rPr lang="en-IN" dirty="0">
                <a:solidFill>
                  <a:schemeClr val="tx1"/>
                </a:solidFill>
                <a:latin typeface="Times New Roman" panose="02020603050405020304" pitchFamily="18" charset="0"/>
                <a:cs typeface="Times New Roman" panose="02020603050405020304" pitchFamily="18" charset="0"/>
              </a:rPr>
              <a:t>(6), 952.</a:t>
            </a:r>
          </a:p>
          <a:p>
            <a:pPr marL="0" indent="0">
              <a:buNone/>
            </a:pPr>
            <a:endParaRPr lang="en-IN" dirty="0"/>
          </a:p>
        </p:txBody>
      </p:sp>
    </p:spTree>
    <p:extLst>
      <p:ext uri="{BB962C8B-B14F-4D97-AF65-F5344CB8AC3E}">
        <p14:creationId xmlns:p14="http://schemas.microsoft.com/office/powerpoint/2010/main" val="3335805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D771E-361B-1BDB-FF17-DA6CE68BAA40}"/>
              </a:ext>
            </a:extLst>
          </p:cNvPr>
          <p:cNvSpPr>
            <a:spLocks noGrp="1"/>
          </p:cNvSpPr>
          <p:nvPr>
            <p:ph type="title"/>
          </p:nvPr>
        </p:nvSpPr>
        <p:spPr>
          <a:xfrm>
            <a:off x="1797666" y="2768600"/>
            <a:ext cx="8596668" cy="1320800"/>
          </a:xfrm>
        </p:spPr>
        <p:txBody>
          <a:bodyPr>
            <a:normAutofit/>
          </a:bodyPr>
          <a:lstStyle/>
          <a:p>
            <a:pPr algn="ctr"/>
            <a:r>
              <a:rPr lang="en-IN" sz="60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049699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1051</TotalTime>
  <Words>2048</Words>
  <Application>Microsoft Office PowerPoint</Application>
  <PresentationFormat>Widescreen</PresentationFormat>
  <Paragraphs>161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Times New Roman</vt:lpstr>
      <vt:lpstr>Trebuchet MS</vt:lpstr>
      <vt:lpstr>Wingdings 3</vt:lpstr>
      <vt:lpstr>Facet</vt:lpstr>
      <vt:lpstr>VRGen: Deep Learning Based VR Property Walkthroughs Using 2D Plans (SDG’s: 4, 9, 11, 12)</vt:lpstr>
      <vt:lpstr>Outline</vt:lpstr>
      <vt:lpstr>Introduction </vt:lpstr>
      <vt:lpstr>PowerPoint Presentation</vt:lpstr>
      <vt:lpstr>Literature Survey of the Existing System</vt:lpstr>
      <vt:lpstr>Limitations of Existing Systems </vt:lpstr>
      <vt:lpstr>Problem Statement  </vt:lpstr>
      <vt:lpstr>PowerPoint Presentation</vt:lpstr>
      <vt:lpstr>System Design</vt:lpstr>
      <vt:lpstr>System Design</vt:lpstr>
      <vt:lpstr>PowerPoint Presentation</vt:lpstr>
      <vt:lpstr>Tools and Technologies  </vt:lpstr>
      <vt:lpstr>PowerPoint Presentation</vt:lpstr>
      <vt:lpstr>Implementation</vt:lpstr>
      <vt:lpstr>IMPLEMENTATION</vt:lpstr>
      <vt:lpstr>IMPLEMENTATION</vt:lpstr>
      <vt:lpstr>Sustainable Development Goals (SDGs)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pawar</dc:creator>
  <cp:lastModifiedBy>yash penkar</cp:lastModifiedBy>
  <cp:revision>78</cp:revision>
  <dcterms:created xsi:type="dcterms:W3CDTF">2025-07-24T18:46:26Z</dcterms:created>
  <dcterms:modified xsi:type="dcterms:W3CDTF">2025-10-31T07:34:50Z</dcterms:modified>
</cp:coreProperties>
</file>